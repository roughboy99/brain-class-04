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Explain that the deck is the shared screen for every Telegram step. Your private terminal and real Telegram account remain off-camera.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/ask is a stable contract. This gives the class a quick diagnostic split before touching Telegram or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second-account acceptance test later. Silence is intentional: a stranger should not learn that a private document system is behind the username.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The original class omitted public HTTPS. Do not imply that Telegram Trigger can activate against 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open your real BotFather chat on the shared screen. Create the bot off-camera before class, or leave this mock slide visible while working on a second unshared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visible for the entire secret-entry sequence. The script disables xtrace, validates formats, writes the ignored private env file, recreates n8n, and reports only 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Compose interpolation versus service environment. A restart restarts the old container configuration; recreation applies the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old wording directly: getUpdates does not stop forever. It is blocked only while the webhook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is on the shared screen for this step; the terminal is not. The Access Token field is declared password: true in n8n, so the paste shows dots. Never click the reveal icon. Save, watch the green test, close the panel, clear the clipboard. The bot on camera is disposable and is revoked after the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generated draft contains 23 nodes including routing and cleanup. Keep it inactive before class; it is a map and recovery aid, not a production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second-account test before adding real documents or leaving the workflow active. Inspect the execution to prove the branch stopped at the owner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while debugging instead of exposing execution data that may contain account metadata. Open the real execution only on an unshared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real grounded question. Do not describe the workflow as production-ready until the release gate has passed on the exported JSON that will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9ED9"/>
          </a:solidFill>
          <a:ln w="12700">
            <a:solidFill>
              <a:srgbClr val="229ED9"/>
            </a:solidFill>
            <a:prstDash val="solid"/>
          </a:ln>
        </p:spPr>
      </p:sp>
      <p:sp>
        <p:nvSpPr>
          <p:cNvPr id="3" name="Text 1"/>
          <p:cNvSpPr/>
          <p:nvPr/>
        </p:nvSpPr>
        <p:spPr>
          <a:xfrm>
            <a:off x="530352" y="6455664"/>
            <a:ext cx="2926080" cy="164592"/>
          </a:xfrm>
          <a:prstGeom prst="rect">
            <a:avLst/>
          </a:prstGeom>
          <a:noFill/>
          <a:ln/>
        </p:spPr>
        <p:txBody>
          <a:bodyPr wrap="square" lIns="0" tIns="0" rIns="0" bIns="0" rtlCol="0" anchor="ctr"/>
          <a:lstStyle/>
          <a:p>
            <a:pPr indent="0" marL="0">
              <a:buNone/>
            </a:pPr>
            <a:r>
              <a:rPr lang="en-US" sz="850" b="1" spc="120" kern="0" dirty="0">
                <a:solidFill>
                  <a:srgbClr val="77736C"/>
                </a:solidFill>
                <a:latin typeface="Aptos" pitchFamily="34" charset="0"/>
                <a:ea typeface="Aptos" pitchFamily="34" charset="-122"/>
                <a:cs typeface="Aptos" pitchFamily="34" charset="-120"/>
              </a:rPr>
              <a:t>CLASS 4  /  TELEGRAM</a:t>
            </a:r>
            <a:endParaRPr lang="en-US" sz="8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B1F"/>
        </a:solidFill>
      </p:bgPr>
    </p:bg>
    <p:spTree>
      <p:nvGrpSpPr>
        <p:cNvPr id="1" name=""/>
        <p:cNvGrpSpPr/>
        <p:nvPr/>
      </p:nvGrpSpPr>
      <p:grpSpPr>
        <a:xfrm>
          <a:off x="0" y="0"/>
          <a:ext cx="0" cy="0"/>
          <a:chOff x="0" y="0"/>
          <a:chExt cx="0" cy="0"/>
        </a:xfrm>
      </p:grpSpPr>
      <p:sp>
        <p:nvSpPr>
          <p:cNvPr id="2" name="Shape 0"/>
          <p:cNvSpPr/>
          <p:nvPr/>
        </p:nvSpPr>
        <p:spPr>
          <a:xfrm>
            <a:off x="8001000" y="0"/>
            <a:ext cx="4190695" cy="6858000"/>
          </a:xfrm>
          <a:prstGeom prst="rect">
            <a:avLst/>
          </a:prstGeom>
          <a:solidFill>
            <a:srgbClr val="229ED9"/>
          </a:solidFill>
          <a:ln w="12700">
            <a:solidFill>
              <a:srgbClr val="229ED9"/>
            </a:solidFill>
            <a:prstDash val="solid"/>
          </a:ln>
        </p:spPr>
      </p:sp>
      <p:sp>
        <p:nvSpPr>
          <p:cNvPr id="3" name="Text 1"/>
          <p:cNvSpPr/>
          <p:nvPr/>
        </p:nvSpPr>
        <p:spPr>
          <a:xfrm>
            <a:off x="658368" y="566928"/>
            <a:ext cx="5303520" cy="292608"/>
          </a:xfrm>
          <a:prstGeom prst="rect">
            <a:avLst/>
          </a:prstGeom>
          <a:noFill/>
          <a:ln/>
        </p:spPr>
        <p:txBody>
          <a:bodyPr wrap="square" lIns="0" tIns="0" rIns="0" bIns="0" rtlCol="0" anchor="ctr"/>
          <a:lstStyle/>
          <a:p>
            <a:pPr indent="0" marL="0">
              <a:buNone/>
            </a:pPr>
            <a:r>
              <a:rPr lang="en-US" sz="1100" b="1" spc="160" kern="0" dirty="0">
                <a:solidFill>
                  <a:srgbClr val="DDF3FC"/>
                </a:solidFill>
                <a:latin typeface="Aptos" pitchFamily="34" charset="0"/>
                <a:ea typeface="Aptos" pitchFamily="34" charset="-122"/>
                <a:cs typeface="Aptos" pitchFamily="34" charset="-120"/>
              </a:rPr>
              <a:t>BUSINESS INTELLIGENCE BRAIN</a:t>
            </a:r>
            <a:endParaRPr lang="en-US" sz="1100" dirty="0"/>
          </a:p>
        </p:txBody>
      </p:sp>
      <p:sp>
        <p:nvSpPr>
          <p:cNvPr id="4" name="Text 2"/>
          <p:cNvSpPr/>
          <p:nvPr/>
        </p:nvSpPr>
        <p:spPr>
          <a:xfrm>
            <a:off x="658368" y="1316736"/>
            <a:ext cx="6492240" cy="1572768"/>
          </a:xfrm>
          <a:prstGeom prst="rect">
            <a:avLst/>
          </a:prstGeom>
          <a:noFill/>
          <a:ln/>
        </p:spPr>
        <p:txBody>
          <a:bodyPr wrap="square" lIns="0" tIns="0" rIns="0" bIns="0" rtlCol="0" anchor="t"/>
          <a:lstStyle/>
          <a:p>
            <a:pPr indent="0" marL="0">
              <a:buNone/>
            </a:pPr>
            <a:r>
              <a:rPr lang="en-US" sz="4500" b="1" dirty="0">
                <a:solidFill>
                  <a:srgbClr val="FFFFFF"/>
                </a:solidFill>
                <a:latin typeface="Aptos Display" pitchFamily="34" charset="0"/>
                <a:ea typeface="Aptos Display" pitchFamily="34" charset="-122"/>
                <a:cs typeface="Aptos Display" pitchFamily="34" charset="-120"/>
              </a:rPr>
              <a:t>Ears and</a:t>
            </a:r>
            <a:endParaRPr lang="en-US" sz="4500" dirty="0"/>
          </a:p>
          <a:p>
            <a:pPr indent="0" marL="0">
              <a:buNone/>
            </a:pPr>
            <a:r>
              <a:rPr lang="en-US" sz="4500" b="1" dirty="0">
                <a:solidFill>
                  <a:srgbClr val="FFFFFF"/>
                </a:solidFill>
                <a:latin typeface="Aptos Display" pitchFamily="34" charset="0"/>
                <a:ea typeface="Aptos Display" pitchFamily="34" charset="-122"/>
                <a:cs typeface="Aptos Display" pitchFamily="34" charset="-120"/>
              </a:rPr>
              <a:t>a voice</a:t>
            </a:r>
            <a:endParaRPr lang="en-US" sz="4500" dirty="0"/>
          </a:p>
        </p:txBody>
      </p:sp>
      <p:sp>
        <p:nvSpPr>
          <p:cNvPr id="5" name="Text 3"/>
          <p:cNvSpPr/>
          <p:nvPr/>
        </p:nvSpPr>
        <p:spPr>
          <a:xfrm>
            <a:off x="694944" y="3154680"/>
            <a:ext cx="6309360" cy="731520"/>
          </a:xfrm>
          <a:prstGeom prst="rect">
            <a:avLst/>
          </a:prstGeom>
          <a:noFill/>
          <a:ln/>
        </p:spPr>
        <p:txBody>
          <a:bodyPr wrap="square" lIns="0" tIns="0" rIns="0" bIns="0" rtlCol="0" anchor="t"/>
          <a:lstStyle/>
          <a:p>
            <a:pPr indent="0" marL="0">
              <a:buNone/>
            </a:pPr>
            <a:r>
              <a:rPr lang="en-US" sz="2000" dirty="0">
                <a:solidFill>
                  <a:srgbClr val="D8DEE2"/>
                </a:solidFill>
                <a:latin typeface="Aptos" pitchFamily="34" charset="0"/>
                <a:ea typeface="Aptos" pitchFamily="34" charset="-122"/>
                <a:cs typeface="Aptos" pitchFamily="34" charset="-120"/>
              </a:rPr>
              <a:t>Telegram in. Your existing brain in the middle. A real voice note back.</a:t>
            </a:r>
            <a:endParaRPr lang="en-US" sz="2000" dirty="0"/>
          </a:p>
        </p:txBody>
      </p:sp>
      <p:sp>
        <p:nvSpPr>
          <p:cNvPr id="6" name="Shape 4"/>
          <p:cNvSpPr/>
          <p:nvPr/>
        </p:nvSpPr>
        <p:spPr>
          <a:xfrm>
            <a:off x="694944" y="5230368"/>
            <a:ext cx="1024128" cy="310896"/>
          </a:xfrm>
          <a:prstGeom prst="roundRect">
            <a:avLst/>
          </a:prstGeom>
          <a:solidFill>
            <a:srgbClr val="FF6B57"/>
          </a:solidFill>
          <a:ln w="12700">
            <a:solidFill>
              <a:srgbClr val="FF6B57"/>
            </a:solidFill>
            <a:prstDash val="solid"/>
          </a:ln>
        </p:spPr>
      </p:sp>
      <p:sp>
        <p:nvSpPr>
          <p:cNvPr id="7" name="Text 5"/>
          <p:cNvSpPr/>
          <p:nvPr/>
        </p:nvSpPr>
        <p:spPr>
          <a:xfrm>
            <a:off x="768096" y="5239512"/>
            <a:ext cx="8778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CLASS 4</a:t>
            </a:r>
            <a:endParaRPr lang="en-US" sz="1050" dirty="0"/>
          </a:p>
        </p:txBody>
      </p:sp>
      <p:sp>
        <p:nvSpPr>
          <p:cNvPr id="8" name="Text 6"/>
          <p:cNvSpPr/>
          <p:nvPr/>
        </p:nvSpPr>
        <p:spPr>
          <a:xfrm>
            <a:off x="1901952" y="5221224"/>
            <a:ext cx="2468880" cy="320040"/>
          </a:xfrm>
          <a:prstGeom prst="rect">
            <a:avLst/>
          </a:prstGeom>
          <a:noFill/>
          <a:ln/>
        </p:spPr>
        <p:txBody>
          <a:bodyPr wrap="square" lIns="0" tIns="0" rIns="0" bIns="0" rtlCol="0" anchor="ctr"/>
          <a:lstStyle/>
          <a:p>
            <a:pPr indent="0" marL="0">
              <a:buNone/>
            </a:pPr>
            <a:r>
              <a:rPr lang="en-US" sz="1300" dirty="0">
                <a:solidFill>
                  <a:srgbClr val="B9C0C4"/>
                </a:solidFill>
                <a:latin typeface="Aptos" pitchFamily="34" charset="0"/>
                <a:ea typeface="Aptos" pitchFamily="34" charset="-122"/>
                <a:cs typeface="Aptos" pitchFamily="34" charset="-120"/>
              </a:rPr>
              <a:t>September 2, 2026</a:t>
            </a:r>
            <a:endParaRPr lang="en-US" sz="1300" dirty="0"/>
          </a:p>
        </p:txBody>
      </p:sp>
      <p:sp>
        <p:nvSpPr>
          <p:cNvPr id="9" name="Shape 7"/>
          <p:cNvSpPr/>
          <p:nvPr/>
        </p:nvSpPr>
        <p:spPr>
          <a:xfrm>
            <a:off x="8805672" y="1517904"/>
            <a:ext cx="2423160" cy="2423160"/>
          </a:xfrm>
          <a:prstGeom prst="chevron">
            <a:avLst/>
          </a:prstGeom>
          <a:solidFill>
            <a:srgbClr val="FFFFFF"/>
          </a:solidFill>
          <a:ln w="12700">
            <a:solidFill>
              <a:srgbClr val="FFFFFF"/>
            </a:solidFill>
            <a:prstDash val="solid"/>
          </a:ln>
        </p:spPr>
      </p:sp>
      <p:sp>
        <p:nvSpPr>
          <p:cNvPr id="10" name="Shape 8"/>
          <p:cNvSpPr/>
          <p:nvPr/>
        </p:nvSpPr>
        <p:spPr>
          <a:xfrm>
            <a:off x="8641080" y="4498848"/>
            <a:ext cx="2697480" cy="822960"/>
          </a:xfrm>
          <a:prstGeom prst="ellipse">
            <a:avLst/>
          </a:prstGeom>
          <a:solidFill>
            <a:srgbClr val="171B1F"/>
          </a:solidFill>
          <a:ln w="12700">
            <a:solidFill>
              <a:srgbClr val="171B1F"/>
            </a:solidFill>
            <a:prstDash val="solid"/>
          </a:ln>
        </p:spPr>
      </p:sp>
      <p:sp>
        <p:nvSpPr>
          <p:cNvPr id="11" name="Text 9"/>
          <p:cNvSpPr/>
          <p:nvPr/>
        </p:nvSpPr>
        <p:spPr>
          <a:xfrm>
            <a:off x="8778240" y="4617720"/>
            <a:ext cx="24231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NO REAL TOKENS</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NO REAL ACCOUNT SCREENS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02</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THE CONTRACT</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Class 3 stays untouched</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Class 4 adds transport and audio around the existing /ask webhook.</a:t>
            </a:r>
            <a:endParaRPr lang="en-US" sz="1450" dirty="0"/>
          </a:p>
        </p:txBody>
      </p:sp>
      <p:sp>
        <p:nvSpPr>
          <p:cNvPr id="6" name="Shape 4"/>
          <p:cNvSpPr/>
          <p:nvPr/>
        </p:nvSpPr>
        <p:spPr>
          <a:xfrm>
            <a:off x="658368" y="2176272"/>
            <a:ext cx="1481328" cy="1554480"/>
          </a:xfrm>
          <a:prstGeom prst="roundRect">
            <a:avLst/>
          </a:prstGeom>
          <a:solidFill>
            <a:srgbClr val="FFFFFF"/>
          </a:solidFill>
          <a:ln w="12700">
            <a:solidFill>
              <a:srgbClr val="D8D4CC"/>
            </a:solidFill>
            <a:prstDash val="solid"/>
          </a:ln>
        </p:spPr>
      </p:sp>
      <p:sp>
        <p:nvSpPr>
          <p:cNvPr id="7" name="Shape 5"/>
          <p:cNvSpPr/>
          <p:nvPr/>
        </p:nvSpPr>
        <p:spPr>
          <a:xfrm>
            <a:off x="658368" y="2176272"/>
            <a:ext cx="1481328" cy="155448"/>
          </a:xfrm>
          <a:prstGeom prst="rect">
            <a:avLst/>
          </a:prstGeom>
          <a:solidFill>
            <a:srgbClr val="229ED9"/>
          </a:solidFill>
          <a:ln w="12700">
            <a:solidFill>
              <a:srgbClr val="229ED9"/>
            </a:solidFill>
            <a:prstDash val="solid"/>
          </a:ln>
        </p:spPr>
      </p:sp>
      <p:sp>
        <p:nvSpPr>
          <p:cNvPr id="8" name="Text 6"/>
          <p:cNvSpPr/>
          <p:nvPr/>
        </p:nvSpPr>
        <p:spPr>
          <a:xfrm>
            <a:off x="786384"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PHONE</a:t>
            </a:r>
            <a:endParaRPr lang="en-US" sz="1500" dirty="0"/>
          </a:p>
        </p:txBody>
      </p:sp>
      <p:sp>
        <p:nvSpPr>
          <p:cNvPr id="9" name="Text 7"/>
          <p:cNvSpPr/>
          <p:nvPr/>
        </p:nvSpPr>
        <p:spPr>
          <a:xfrm>
            <a:off x="768096"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voice note</a:t>
            </a:r>
            <a:endParaRPr lang="en-US" sz="1150" dirty="0"/>
          </a:p>
        </p:txBody>
      </p:sp>
      <p:sp>
        <p:nvSpPr>
          <p:cNvPr id="10" name="Shape 8"/>
          <p:cNvSpPr/>
          <p:nvPr/>
        </p:nvSpPr>
        <p:spPr>
          <a:xfrm>
            <a:off x="2185416" y="2944368"/>
            <a:ext cx="438912" cy="0"/>
          </a:xfrm>
          <a:prstGeom prst="line">
            <a:avLst/>
          </a:prstGeom>
          <a:noFill/>
          <a:ln w="25400">
            <a:solidFill>
              <a:srgbClr val="6F736F"/>
            </a:solidFill>
            <a:prstDash val="solid"/>
            <a:tailEnd type="triangle"/>
          </a:ln>
        </p:spPr>
      </p:sp>
      <p:sp>
        <p:nvSpPr>
          <p:cNvPr id="11" name="Shape 9"/>
          <p:cNvSpPr/>
          <p:nvPr/>
        </p:nvSpPr>
        <p:spPr>
          <a:xfrm>
            <a:off x="2560320" y="2176272"/>
            <a:ext cx="1481328" cy="1554480"/>
          </a:xfrm>
          <a:prstGeom prst="roundRect">
            <a:avLst/>
          </a:prstGeom>
          <a:solidFill>
            <a:srgbClr val="FFFFFF"/>
          </a:solidFill>
          <a:ln w="12700">
            <a:solidFill>
              <a:srgbClr val="D8D4CC"/>
            </a:solidFill>
            <a:prstDash val="solid"/>
          </a:ln>
        </p:spPr>
      </p:sp>
      <p:sp>
        <p:nvSpPr>
          <p:cNvPr id="12" name="Shape 10"/>
          <p:cNvSpPr/>
          <p:nvPr/>
        </p:nvSpPr>
        <p:spPr>
          <a:xfrm>
            <a:off x="2560320" y="2176272"/>
            <a:ext cx="1481328" cy="155448"/>
          </a:xfrm>
          <a:prstGeom prst="rect">
            <a:avLst/>
          </a:prstGeom>
          <a:solidFill>
            <a:srgbClr val="FF6B57"/>
          </a:solidFill>
          <a:ln w="12700">
            <a:solidFill>
              <a:srgbClr val="FF6B57"/>
            </a:solidFill>
            <a:prstDash val="solid"/>
          </a:ln>
        </p:spPr>
      </p:sp>
      <p:sp>
        <p:nvSpPr>
          <p:cNvPr id="13" name="Text 11"/>
          <p:cNvSpPr/>
          <p:nvPr/>
        </p:nvSpPr>
        <p:spPr>
          <a:xfrm>
            <a:off x="2688336"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GUARD</a:t>
            </a:r>
            <a:endParaRPr lang="en-US" sz="1500" dirty="0"/>
          </a:p>
        </p:txBody>
      </p:sp>
      <p:sp>
        <p:nvSpPr>
          <p:cNvPr id="14" name="Text 12"/>
          <p:cNvSpPr/>
          <p:nvPr/>
        </p:nvSpPr>
        <p:spPr>
          <a:xfrm>
            <a:off x="2670048"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owner only</a:t>
            </a:r>
            <a:endParaRPr lang="en-US" sz="1150" dirty="0"/>
          </a:p>
        </p:txBody>
      </p:sp>
      <p:sp>
        <p:nvSpPr>
          <p:cNvPr id="15" name="Shape 13"/>
          <p:cNvSpPr/>
          <p:nvPr/>
        </p:nvSpPr>
        <p:spPr>
          <a:xfrm>
            <a:off x="4087368" y="2944368"/>
            <a:ext cx="438912" cy="0"/>
          </a:xfrm>
          <a:prstGeom prst="line">
            <a:avLst/>
          </a:prstGeom>
          <a:noFill/>
          <a:ln w="25400">
            <a:solidFill>
              <a:srgbClr val="6F736F"/>
            </a:solidFill>
            <a:prstDash val="solid"/>
            <a:tailEnd type="triangle"/>
          </a:ln>
        </p:spPr>
      </p:sp>
      <p:sp>
        <p:nvSpPr>
          <p:cNvPr id="16" name="Shape 14"/>
          <p:cNvSpPr/>
          <p:nvPr/>
        </p:nvSpPr>
        <p:spPr>
          <a:xfrm>
            <a:off x="4462272" y="2176272"/>
            <a:ext cx="1481328" cy="1554480"/>
          </a:xfrm>
          <a:prstGeom prst="roundRect">
            <a:avLst/>
          </a:prstGeom>
          <a:solidFill>
            <a:srgbClr val="FFFFFF"/>
          </a:solidFill>
          <a:ln w="12700">
            <a:solidFill>
              <a:srgbClr val="D8D4CC"/>
            </a:solidFill>
            <a:prstDash val="solid"/>
          </a:ln>
        </p:spPr>
      </p:sp>
      <p:sp>
        <p:nvSpPr>
          <p:cNvPr id="17" name="Shape 15"/>
          <p:cNvSpPr/>
          <p:nvPr/>
        </p:nvSpPr>
        <p:spPr>
          <a:xfrm>
            <a:off x="4462272" y="2176272"/>
            <a:ext cx="1481328" cy="155448"/>
          </a:xfrm>
          <a:prstGeom prst="rect">
            <a:avLst/>
          </a:prstGeom>
          <a:solidFill>
            <a:srgbClr val="E8B84A"/>
          </a:solidFill>
          <a:ln w="12700">
            <a:solidFill>
              <a:srgbClr val="E8B84A"/>
            </a:solidFill>
            <a:prstDash val="solid"/>
          </a:ln>
        </p:spPr>
      </p:sp>
      <p:sp>
        <p:nvSpPr>
          <p:cNvPr id="18" name="Text 16"/>
          <p:cNvSpPr/>
          <p:nvPr/>
        </p:nvSpPr>
        <p:spPr>
          <a:xfrm>
            <a:off x="4590288"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EARS</a:t>
            </a:r>
            <a:endParaRPr lang="en-US" sz="1500" dirty="0"/>
          </a:p>
        </p:txBody>
      </p:sp>
      <p:sp>
        <p:nvSpPr>
          <p:cNvPr id="19" name="Text 17"/>
          <p:cNvSpPr/>
          <p:nvPr/>
        </p:nvSpPr>
        <p:spPr>
          <a:xfrm>
            <a:off x="4572000"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ogg -&gt; text</a:t>
            </a:r>
            <a:endParaRPr lang="en-US" sz="1150" dirty="0"/>
          </a:p>
        </p:txBody>
      </p:sp>
      <p:sp>
        <p:nvSpPr>
          <p:cNvPr id="20" name="Shape 18"/>
          <p:cNvSpPr/>
          <p:nvPr/>
        </p:nvSpPr>
        <p:spPr>
          <a:xfrm>
            <a:off x="5989320" y="2944368"/>
            <a:ext cx="438912" cy="0"/>
          </a:xfrm>
          <a:prstGeom prst="line">
            <a:avLst/>
          </a:prstGeom>
          <a:noFill/>
          <a:ln w="25400">
            <a:solidFill>
              <a:srgbClr val="6F736F"/>
            </a:solidFill>
            <a:prstDash val="solid"/>
            <a:tailEnd type="triangle"/>
          </a:ln>
        </p:spPr>
      </p:sp>
      <p:sp>
        <p:nvSpPr>
          <p:cNvPr id="21" name="Shape 19"/>
          <p:cNvSpPr/>
          <p:nvPr/>
        </p:nvSpPr>
        <p:spPr>
          <a:xfrm>
            <a:off x="6364224" y="2176272"/>
            <a:ext cx="1481328" cy="1554480"/>
          </a:xfrm>
          <a:prstGeom prst="roundRect">
            <a:avLst/>
          </a:prstGeom>
          <a:solidFill>
            <a:srgbClr val="FFFFFF"/>
          </a:solidFill>
          <a:ln w="12700">
            <a:solidFill>
              <a:srgbClr val="D8D4CC"/>
            </a:solidFill>
            <a:prstDash val="solid"/>
          </a:ln>
        </p:spPr>
      </p:sp>
      <p:sp>
        <p:nvSpPr>
          <p:cNvPr id="22" name="Shape 20"/>
          <p:cNvSpPr/>
          <p:nvPr/>
        </p:nvSpPr>
        <p:spPr>
          <a:xfrm>
            <a:off x="6364224" y="2176272"/>
            <a:ext cx="1481328" cy="155448"/>
          </a:xfrm>
          <a:prstGeom prst="rect">
            <a:avLst/>
          </a:prstGeom>
          <a:solidFill>
            <a:srgbClr val="2EA76F"/>
          </a:solidFill>
          <a:ln w="12700">
            <a:solidFill>
              <a:srgbClr val="2EA76F"/>
            </a:solidFill>
            <a:prstDash val="solid"/>
          </a:ln>
        </p:spPr>
      </p:sp>
      <p:sp>
        <p:nvSpPr>
          <p:cNvPr id="23" name="Text 21"/>
          <p:cNvSpPr/>
          <p:nvPr/>
        </p:nvSpPr>
        <p:spPr>
          <a:xfrm>
            <a:off x="6492240"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/ASK</a:t>
            </a:r>
            <a:endParaRPr lang="en-US" sz="1500" dirty="0"/>
          </a:p>
        </p:txBody>
      </p:sp>
      <p:sp>
        <p:nvSpPr>
          <p:cNvPr id="24" name="Text 22"/>
          <p:cNvSpPr/>
          <p:nvPr/>
        </p:nvSpPr>
        <p:spPr>
          <a:xfrm>
            <a:off x="6473952"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Class 3</a:t>
            </a:r>
            <a:endParaRPr lang="en-US" sz="1150" dirty="0"/>
          </a:p>
        </p:txBody>
      </p:sp>
      <p:sp>
        <p:nvSpPr>
          <p:cNvPr id="25" name="Shape 23"/>
          <p:cNvSpPr/>
          <p:nvPr/>
        </p:nvSpPr>
        <p:spPr>
          <a:xfrm>
            <a:off x="7891272" y="2944368"/>
            <a:ext cx="438912" cy="0"/>
          </a:xfrm>
          <a:prstGeom prst="line">
            <a:avLst/>
          </a:prstGeom>
          <a:noFill/>
          <a:ln w="25400">
            <a:solidFill>
              <a:srgbClr val="6F736F"/>
            </a:solidFill>
            <a:prstDash val="solid"/>
            <a:tailEnd type="triangle"/>
          </a:ln>
        </p:spPr>
      </p:sp>
      <p:sp>
        <p:nvSpPr>
          <p:cNvPr id="26" name="Shape 24"/>
          <p:cNvSpPr/>
          <p:nvPr/>
        </p:nvSpPr>
        <p:spPr>
          <a:xfrm>
            <a:off x="8266176" y="2176272"/>
            <a:ext cx="1481328" cy="1554480"/>
          </a:xfrm>
          <a:prstGeom prst="roundRect">
            <a:avLst/>
          </a:prstGeom>
          <a:solidFill>
            <a:srgbClr val="FFFFFF"/>
          </a:solidFill>
          <a:ln w="12700">
            <a:solidFill>
              <a:srgbClr val="D8D4CC"/>
            </a:solidFill>
            <a:prstDash val="solid"/>
          </a:ln>
        </p:spPr>
      </p:sp>
      <p:sp>
        <p:nvSpPr>
          <p:cNvPr id="27" name="Shape 25"/>
          <p:cNvSpPr/>
          <p:nvPr/>
        </p:nvSpPr>
        <p:spPr>
          <a:xfrm>
            <a:off x="8266176" y="2176272"/>
            <a:ext cx="1481328" cy="155448"/>
          </a:xfrm>
          <a:prstGeom prst="rect">
            <a:avLst/>
          </a:prstGeom>
          <a:solidFill>
            <a:srgbClr val="E8B84A"/>
          </a:solidFill>
          <a:ln w="12700">
            <a:solidFill>
              <a:srgbClr val="E8B84A"/>
            </a:solidFill>
            <a:prstDash val="solid"/>
          </a:ln>
        </p:spPr>
      </p:sp>
      <p:sp>
        <p:nvSpPr>
          <p:cNvPr id="28" name="Text 26"/>
          <p:cNvSpPr/>
          <p:nvPr/>
        </p:nvSpPr>
        <p:spPr>
          <a:xfrm>
            <a:off x="8394192"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VOICE</a:t>
            </a:r>
            <a:endParaRPr lang="en-US" sz="1500" dirty="0"/>
          </a:p>
        </p:txBody>
      </p:sp>
      <p:sp>
        <p:nvSpPr>
          <p:cNvPr id="29" name="Text 27"/>
          <p:cNvSpPr/>
          <p:nvPr/>
        </p:nvSpPr>
        <p:spPr>
          <a:xfrm>
            <a:off x="8375904"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text -&gt; opus</a:t>
            </a:r>
            <a:endParaRPr lang="en-US" sz="1150" dirty="0"/>
          </a:p>
        </p:txBody>
      </p:sp>
      <p:sp>
        <p:nvSpPr>
          <p:cNvPr id="30" name="Shape 28"/>
          <p:cNvSpPr/>
          <p:nvPr/>
        </p:nvSpPr>
        <p:spPr>
          <a:xfrm>
            <a:off x="9793224" y="2944368"/>
            <a:ext cx="438912" cy="0"/>
          </a:xfrm>
          <a:prstGeom prst="line">
            <a:avLst/>
          </a:prstGeom>
          <a:noFill/>
          <a:ln w="25400">
            <a:solidFill>
              <a:srgbClr val="6F736F"/>
            </a:solidFill>
            <a:prstDash val="solid"/>
            <a:tailEnd type="triangle"/>
          </a:ln>
        </p:spPr>
      </p:sp>
      <p:sp>
        <p:nvSpPr>
          <p:cNvPr id="31" name="Shape 29"/>
          <p:cNvSpPr/>
          <p:nvPr/>
        </p:nvSpPr>
        <p:spPr>
          <a:xfrm>
            <a:off x="10168128" y="2176272"/>
            <a:ext cx="1481328" cy="1554480"/>
          </a:xfrm>
          <a:prstGeom prst="roundRect">
            <a:avLst/>
          </a:prstGeom>
          <a:solidFill>
            <a:srgbClr val="FFFFFF"/>
          </a:solidFill>
          <a:ln w="12700">
            <a:solidFill>
              <a:srgbClr val="D8D4CC"/>
            </a:solidFill>
            <a:prstDash val="solid"/>
          </a:ln>
        </p:spPr>
      </p:sp>
      <p:sp>
        <p:nvSpPr>
          <p:cNvPr id="32" name="Shape 30"/>
          <p:cNvSpPr/>
          <p:nvPr/>
        </p:nvSpPr>
        <p:spPr>
          <a:xfrm>
            <a:off x="10168128" y="2176272"/>
            <a:ext cx="1481328" cy="155448"/>
          </a:xfrm>
          <a:prstGeom prst="rect">
            <a:avLst/>
          </a:prstGeom>
          <a:solidFill>
            <a:srgbClr val="229ED9"/>
          </a:solidFill>
          <a:ln w="12700">
            <a:solidFill>
              <a:srgbClr val="229ED9"/>
            </a:solidFill>
            <a:prstDash val="solid"/>
          </a:ln>
        </p:spPr>
      </p:sp>
      <p:sp>
        <p:nvSpPr>
          <p:cNvPr id="33" name="Text 31"/>
          <p:cNvSpPr/>
          <p:nvPr/>
        </p:nvSpPr>
        <p:spPr>
          <a:xfrm>
            <a:off x="10296144" y="2542032"/>
            <a:ext cx="1225296" cy="274320"/>
          </a:xfrm>
          <a:prstGeom prst="rect">
            <a:avLst/>
          </a:prstGeom>
          <a:noFill/>
          <a:ln/>
        </p:spPr>
        <p:txBody>
          <a:bodyPr wrap="square" lIns="0" tIns="0" rIns="0" bIns="0" rtlCol="0" anchor="ctr"/>
          <a:lstStyle/>
          <a:p>
            <a:pPr algn="ctr" indent="0" marL="0">
              <a:buNone/>
            </a:pPr>
            <a:r>
              <a:rPr lang="en-US" sz="1500" b="1" dirty="0">
                <a:solidFill>
                  <a:srgbClr val="171B1F"/>
                </a:solidFill>
                <a:latin typeface="Aptos" pitchFamily="34" charset="0"/>
                <a:ea typeface="Aptos" pitchFamily="34" charset="-122"/>
                <a:cs typeface="Aptos" pitchFamily="34" charset="-120"/>
              </a:rPr>
              <a:t>PHONE</a:t>
            </a:r>
            <a:endParaRPr lang="en-US" sz="1500" dirty="0"/>
          </a:p>
        </p:txBody>
      </p:sp>
      <p:sp>
        <p:nvSpPr>
          <p:cNvPr id="34" name="Text 32"/>
          <p:cNvSpPr/>
          <p:nvPr/>
        </p:nvSpPr>
        <p:spPr>
          <a:xfrm>
            <a:off x="10277856" y="2971800"/>
            <a:ext cx="1261872" cy="310896"/>
          </a:xfrm>
          <a:prstGeom prst="rect">
            <a:avLst/>
          </a:prstGeom>
          <a:noFill/>
          <a:ln/>
        </p:spPr>
        <p:txBody>
          <a:bodyPr wrap="square" lIns="0" tIns="0" rIns="0" bIns="0" rtlCol="0" anchor="ctr"/>
          <a:lstStyle/>
          <a:p>
            <a:pPr algn="ctr" indent="0" marL="0">
              <a:buNone/>
            </a:pPr>
            <a:r>
              <a:rPr lang="en-US" sz="1150" dirty="0">
                <a:solidFill>
                  <a:srgbClr val="6F736F"/>
                </a:solidFill>
                <a:latin typeface="Aptos" pitchFamily="34" charset="0"/>
                <a:ea typeface="Aptos" pitchFamily="34" charset="-122"/>
                <a:cs typeface="Aptos" pitchFamily="34" charset="-120"/>
              </a:rPr>
              <a:t>voice bubble</a:t>
            </a:r>
            <a:endParaRPr lang="en-US" sz="1150" dirty="0"/>
          </a:p>
        </p:txBody>
      </p:sp>
      <p:sp>
        <p:nvSpPr>
          <p:cNvPr id="35" name="Shape 33"/>
          <p:cNvSpPr/>
          <p:nvPr/>
        </p:nvSpPr>
        <p:spPr>
          <a:xfrm>
            <a:off x="3127248" y="4279392"/>
            <a:ext cx="5943600" cy="987552"/>
          </a:xfrm>
          <a:prstGeom prst="rect">
            <a:avLst/>
          </a:prstGeom>
          <a:solidFill>
            <a:srgbClr val="DFF3E9"/>
          </a:solidFill>
          <a:ln w="12700">
            <a:solidFill>
              <a:srgbClr val="DFF3E9"/>
            </a:solidFill>
            <a:prstDash val="solid"/>
          </a:ln>
        </p:spPr>
      </p:sp>
      <p:sp>
        <p:nvSpPr>
          <p:cNvPr id="36" name="Text 34"/>
          <p:cNvSpPr/>
          <p:nvPr/>
        </p:nvSpPr>
        <p:spPr>
          <a:xfrm>
            <a:off x="3401568" y="4425696"/>
            <a:ext cx="1554480" cy="246888"/>
          </a:xfrm>
          <a:prstGeom prst="rect">
            <a:avLst/>
          </a:prstGeom>
          <a:noFill/>
          <a:ln/>
        </p:spPr>
        <p:txBody>
          <a:bodyPr wrap="square" lIns="0" tIns="0" rIns="0" bIns="0" rtlCol="0" anchor="ctr"/>
          <a:lstStyle/>
          <a:p>
            <a:pPr indent="0" marL="0">
              <a:buNone/>
            </a:pPr>
            <a:r>
              <a:rPr lang="en-US" sz="1300" b="1" dirty="0">
                <a:solidFill>
                  <a:srgbClr val="2EA76F"/>
                </a:solidFill>
                <a:latin typeface="Aptos" pitchFamily="34" charset="0"/>
                <a:ea typeface="Aptos" pitchFamily="34" charset="-122"/>
                <a:cs typeface="Aptos" pitchFamily="34" charset="-120"/>
              </a:rPr>
              <a:t>Fast fault isolation</a:t>
            </a:r>
            <a:endParaRPr lang="en-US" sz="1300" dirty="0"/>
          </a:p>
        </p:txBody>
      </p:sp>
      <p:sp>
        <p:nvSpPr>
          <p:cNvPr id="37" name="Text 35"/>
          <p:cNvSpPr/>
          <p:nvPr/>
        </p:nvSpPr>
        <p:spPr>
          <a:xfrm>
            <a:off x="5138928" y="4315968"/>
            <a:ext cx="3611880" cy="530352"/>
          </a:xfrm>
          <a:prstGeom prst="rect">
            <a:avLst/>
          </a:prstGeom>
          <a:noFill/>
          <a:ln/>
        </p:spPr>
        <p:txBody>
          <a:bodyPr wrap="square" lIns="0" tIns="0" rIns="0" bIns="0" rtlCol="0" anchor="ctr"/>
          <a:lstStyle/>
          <a:p>
            <a:pPr indent="0" marL="0">
              <a:buNone/>
            </a:pPr>
            <a:r>
              <a:rPr lang="en-US" sz="1250" b="1" dirty="0">
                <a:solidFill>
                  <a:srgbClr val="171B1F"/>
                </a:solidFill>
                <a:latin typeface="Aptos" pitchFamily="34" charset="0"/>
                <a:ea typeface="Aptos" pitchFamily="34" charset="-122"/>
                <a:cs typeface="Aptos" pitchFamily="34" charset="-120"/>
              </a:rPr>
              <a:t>Ask tab works?  Debug Class 4.</a:t>
            </a:r>
            <a:endParaRPr lang="en-US" sz="1250" dirty="0"/>
          </a:p>
          <a:p>
            <a:pPr indent="0" marL="0">
              <a:buNone/>
            </a:pPr>
            <a:r>
              <a:rPr lang="en-US" sz="1250" b="1" dirty="0">
                <a:solidFill>
                  <a:srgbClr val="171B1F"/>
                </a:solidFill>
                <a:latin typeface="Aptos" pitchFamily="34" charset="0"/>
                <a:ea typeface="Aptos" pitchFamily="34" charset="-122"/>
                <a:cs typeface="Aptos" pitchFamily="34" charset="-120"/>
              </a:rPr>
              <a:t>Ask tab fails?  Repair Class 3 first.</a:t>
            </a:r>
            <a:endParaRPr lang="en-US" sz="12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03</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THREAT MODEL</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A public username in front of private documents</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The guard must run before downloads, OpenRouter calls, or document answers.</a:t>
            </a:r>
            <a:endParaRPr lang="en-US" sz="1450" dirty="0"/>
          </a:p>
        </p:txBody>
      </p:sp>
      <p:sp>
        <p:nvSpPr>
          <p:cNvPr id="6" name="Shape 4"/>
          <p:cNvSpPr/>
          <p:nvPr/>
        </p:nvSpPr>
        <p:spPr>
          <a:xfrm>
            <a:off x="713232" y="2148840"/>
            <a:ext cx="1828800" cy="1828800"/>
          </a:xfrm>
          <a:prstGeom prst="ellipse">
            <a:avLst/>
          </a:prstGeom>
          <a:solidFill>
            <a:srgbClr val="DDF3FC"/>
          </a:solidFill>
          <a:ln w="12700">
            <a:solidFill>
              <a:srgbClr val="229ED9"/>
            </a:solidFill>
            <a:prstDash val="solid"/>
          </a:ln>
        </p:spPr>
      </p:sp>
      <p:sp>
        <p:nvSpPr>
          <p:cNvPr id="7" name="Text 5"/>
          <p:cNvSpPr/>
          <p:nvPr/>
        </p:nvSpPr>
        <p:spPr>
          <a:xfrm>
            <a:off x="941832" y="2724912"/>
            <a:ext cx="1371600" cy="310896"/>
          </a:xfrm>
          <a:prstGeom prst="rect">
            <a:avLst/>
          </a:prstGeom>
          <a:noFill/>
          <a:ln/>
        </p:spPr>
        <p:txBody>
          <a:bodyPr wrap="square" lIns="0" tIns="0" rIns="0" bIns="0" rtlCol="0" anchor="ctr"/>
          <a:lstStyle/>
          <a:p>
            <a:pPr algn="ctr" indent="0" marL="0">
              <a:buNone/>
            </a:pPr>
            <a:r>
              <a:rPr lang="en-US" sz="2000" b="1" dirty="0">
                <a:solidFill>
                  <a:srgbClr val="229ED9"/>
                </a:solidFill>
                <a:latin typeface="Aptos" pitchFamily="34" charset="0"/>
                <a:ea typeface="Aptos" pitchFamily="34" charset="-122"/>
                <a:cs typeface="Aptos" pitchFamily="34" charset="-120"/>
              </a:rPr>
              <a:t>ANYONE</a:t>
            </a:r>
            <a:endParaRPr lang="en-US" sz="2000" dirty="0"/>
          </a:p>
        </p:txBody>
      </p:sp>
      <p:sp>
        <p:nvSpPr>
          <p:cNvPr id="8" name="Shape 6"/>
          <p:cNvSpPr/>
          <p:nvPr/>
        </p:nvSpPr>
        <p:spPr>
          <a:xfrm>
            <a:off x="2651760" y="3063240"/>
            <a:ext cx="1143000" cy="0"/>
          </a:xfrm>
          <a:prstGeom prst="line">
            <a:avLst/>
          </a:prstGeom>
          <a:noFill/>
          <a:ln w="31750">
            <a:solidFill>
              <a:srgbClr val="6F736F"/>
            </a:solidFill>
            <a:prstDash val="solid"/>
            <a:tailEnd type="triangle"/>
          </a:ln>
        </p:spPr>
      </p:sp>
      <p:sp>
        <p:nvSpPr>
          <p:cNvPr id="9" name="Shape 7"/>
          <p:cNvSpPr/>
          <p:nvPr/>
        </p:nvSpPr>
        <p:spPr>
          <a:xfrm>
            <a:off x="3977640" y="1993392"/>
            <a:ext cx="2103120" cy="2103120"/>
          </a:xfrm>
          <a:prstGeom prst="hexagon">
            <a:avLst/>
          </a:prstGeom>
          <a:solidFill>
            <a:srgbClr val="FF6B57"/>
          </a:solidFill>
          <a:ln w="12700">
            <a:solidFill>
              <a:srgbClr val="FF6B57"/>
            </a:solidFill>
            <a:prstDash val="solid"/>
          </a:ln>
        </p:spPr>
      </p:sp>
      <p:sp>
        <p:nvSpPr>
          <p:cNvPr id="10" name="Text 8"/>
          <p:cNvSpPr/>
          <p:nvPr/>
        </p:nvSpPr>
        <p:spPr>
          <a:xfrm>
            <a:off x="4343400" y="2578608"/>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OWNER</a:t>
            </a:r>
            <a:endParaRPr lang="en-US" sz="1800" dirty="0"/>
          </a:p>
          <a:p>
            <a:pPr algn="ctr" indent="0" marL="0">
              <a:buNone/>
            </a:pPr>
            <a:r>
              <a:rPr lang="en-US" sz="1800" b="1" dirty="0">
                <a:solidFill>
                  <a:srgbClr val="FFFFFF"/>
                </a:solidFill>
                <a:latin typeface="Aptos" pitchFamily="34" charset="0"/>
                <a:ea typeface="Aptos" pitchFamily="34" charset="-122"/>
                <a:cs typeface="Aptos" pitchFamily="34" charset="-120"/>
              </a:rPr>
              <a:t>GUARD</a:t>
            </a:r>
            <a:endParaRPr lang="en-US" sz="1800" dirty="0"/>
          </a:p>
        </p:txBody>
      </p:sp>
      <p:sp>
        <p:nvSpPr>
          <p:cNvPr id="11" name="Shape 9"/>
          <p:cNvSpPr/>
          <p:nvPr/>
        </p:nvSpPr>
        <p:spPr>
          <a:xfrm>
            <a:off x="6236208" y="3063240"/>
            <a:ext cx="1143000" cy="0"/>
          </a:xfrm>
          <a:prstGeom prst="line">
            <a:avLst/>
          </a:prstGeom>
          <a:noFill/>
          <a:ln w="31750">
            <a:solidFill>
              <a:srgbClr val="2EA76F"/>
            </a:solidFill>
            <a:prstDash val="solid"/>
            <a:tailEnd type="triangle"/>
          </a:ln>
        </p:spPr>
      </p:sp>
      <p:sp>
        <p:nvSpPr>
          <p:cNvPr id="12" name="Shape 10"/>
          <p:cNvSpPr/>
          <p:nvPr/>
        </p:nvSpPr>
        <p:spPr>
          <a:xfrm>
            <a:off x="7543800" y="2121408"/>
            <a:ext cx="3611880" cy="1874520"/>
          </a:xfrm>
          <a:prstGeom prst="roundRect">
            <a:avLst/>
          </a:prstGeom>
          <a:solidFill>
            <a:srgbClr val="171B1F"/>
          </a:solidFill>
          <a:ln w="12700">
            <a:solidFill>
              <a:srgbClr val="171B1F"/>
            </a:solidFill>
            <a:prstDash val="solid"/>
          </a:ln>
        </p:spPr>
      </p:sp>
      <p:sp>
        <p:nvSpPr>
          <p:cNvPr id="13" name="Text 11"/>
          <p:cNvSpPr/>
          <p:nvPr/>
        </p:nvSpPr>
        <p:spPr>
          <a:xfrm>
            <a:off x="7891272" y="2487168"/>
            <a:ext cx="2907792" cy="320040"/>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YOUR BRAIN</a:t>
            </a:r>
            <a:endParaRPr lang="en-US" sz="2200" dirty="0"/>
          </a:p>
        </p:txBody>
      </p:sp>
      <p:sp>
        <p:nvSpPr>
          <p:cNvPr id="14" name="Text 12"/>
          <p:cNvSpPr/>
          <p:nvPr/>
        </p:nvSpPr>
        <p:spPr>
          <a:xfrm>
            <a:off x="7845552" y="3063240"/>
            <a:ext cx="3017520" cy="274320"/>
          </a:xfrm>
          <a:prstGeom prst="rect">
            <a:avLst/>
          </a:prstGeom>
          <a:noFill/>
          <a:ln/>
        </p:spPr>
        <p:txBody>
          <a:bodyPr wrap="square" lIns="0" tIns="0" rIns="0" bIns="0" rtlCol="0" anchor="ctr"/>
          <a:lstStyle/>
          <a:p>
            <a:pPr algn="ctr" indent="0" marL="0">
              <a:buNone/>
            </a:pPr>
            <a:r>
              <a:rPr lang="en-US" sz="1200" dirty="0">
                <a:solidFill>
                  <a:srgbClr val="C6CDD0"/>
                </a:solidFill>
                <a:latin typeface="Aptos" pitchFamily="34" charset="0"/>
                <a:ea typeface="Aptos" pitchFamily="34" charset="-122"/>
                <a:cs typeface="Aptos" pitchFamily="34" charset="-120"/>
              </a:rPr>
              <a:t>leases  /  invoices  /  policies</a:t>
            </a:r>
            <a:endParaRPr lang="en-US" sz="1200" dirty="0"/>
          </a:p>
        </p:txBody>
      </p:sp>
      <p:sp>
        <p:nvSpPr>
          <p:cNvPr id="15" name="Shape 13"/>
          <p:cNvSpPr/>
          <p:nvPr/>
        </p:nvSpPr>
        <p:spPr>
          <a:xfrm>
            <a:off x="987552" y="4754880"/>
            <a:ext cx="1874520" cy="310896"/>
          </a:xfrm>
          <a:prstGeom prst="roundRect">
            <a:avLst/>
          </a:prstGeom>
          <a:solidFill>
            <a:srgbClr val="FFE5DF"/>
          </a:solidFill>
          <a:ln w="12700">
            <a:solidFill>
              <a:srgbClr val="FFE5DF"/>
            </a:solidFill>
            <a:prstDash val="solid"/>
          </a:ln>
        </p:spPr>
      </p:sp>
      <p:sp>
        <p:nvSpPr>
          <p:cNvPr id="16" name="Text 14"/>
          <p:cNvSpPr/>
          <p:nvPr/>
        </p:nvSpPr>
        <p:spPr>
          <a:xfrm>
            <a:off x="1060704" y="4764024"/>
            <a:ext cx="1728216" cy="274320"/>
          </a:xfrm>
          <a:prstGeom prst="rect">
            <a:avLst/>
          </a:prstGeom>
          <a:noFill/>
          <a:ln/>
        </p:spPr>
        <p:txBody>
          <a:bodyPr wrap="square" lIns="0" tIns="0" rIns="0" bIns="0" rtlCol="0" anchor="ctr"/>
          <a:lstStyle/>
          <a:p>
            <a:pPr algn="ctr" indent="0" marL="0">
              <a:buNone/>
            </a:pPr>
            <a:r>
              <a:rPr lang="en-US" sz="1050" b="1" dirty="0">
                <a:solidFill>
                  <a:srgbClr val="C83F49"/>
                </a:solidFill>
                <a:latin typeface="Aptos" pitchFamily="34" charset="0"/>
                <a:ea typeface="Aptos" pitchFamily="34" charset="-122"/>
                <a:cs typeface="Aptos" pitchFamily="34" charset="-120"/>
              </a:rPr>
              <a:t>STRANGER -&gt; SILENCE</a:t>
            </a:r>
            <a:endParaRPr lang="en-US" sz="1050" dirty="0"/>
          </a:p>
        </p:txBody>
      </p:sp>
      <p:sp>
        <p:nvSpPr>
          <p:cNvPr id="17" name="Shape 15"/>
          <p:cNvSpPr/>
          <p:nvPr/>
        </p:nvSpPr>
        <p:spPr>
          <a:xfrm>
            <a:off x="4133088" y="4754880"/>
            <a:ext cx="1874520" cy="310896"/>
          </a:xfrm>
          <a:prstGeom prst="roundRect">
            <a:avLst/>
          </a:prstGeom>
          <a:solidFill>
            <a:srgbClr val="DFF3E9"/>
          </a:solidFill>
          <a:ln w="12700">
            <a:solidFill>
              <a:srgbClr val="DFF3E9"/>
            </a:solidFill>
            <a:prstDash val="solid"/>
          </a:ln>
        </p:spPr>
      </p:sp>
      <p:sp>
        <p:nvSpPr>
          <p:cNvPr id="18" name="Text 16"/>
          <p:cNvSpPr/>
          <p:nvPr/>
        </p:nvSpPr>
        <p:spPr>
          <a:xfrm>
            <a:off x="4206240" y="4764024"/>
            <a:ext cx="1728216" cy="274320"/>
          </a:xfrm>
          <a:prstGeom prst="rect">
            <a:avLst/>
          </a:prstGeom>
          <a:noFill/>
          <a:ln/>
        </p:spPr>
        <p:txBody>
          <a:bodyPr wrap="square" lIns="0" tIns="0" rIns="0" bIns="0" rtlCol="0" anchor="ctr"/>
          <a:lstStyle/>
          <a:p>
            <a:pPr algn="ctr" indent="0" marL="0">
              <a:buNone/>
            </a:pPr>
            <a:r>
              <a:rPr lang="en-US" sz="1050" b="1" dirty="0">
                <a:solidFill>
                  <a:srgbClr val="2EA76F"/>
                </a:solidFill>
                <a:latin typeface="Aptos" pitchFamily="34" charset="0"/>
                <a:ea typeface="Aptos" pitchFamily="34" charset="-122"/>
                <a:cs typeface="Aptos" pitchFamily="34" charset="-120"/>
              </a:rPr>
              <a:t>OWNER -&gt; CONTINUE</a:t>
            </a:r>
            <a:endParaRPr lang="en-US" sz="1050" dirty="0"/>
          </a:p>
        </p:txBody>
      </p:sp>
      <p:sp>
        <p:nvSpPr>
          <p:cNvPr id="19" name="Text 17"/>
          <p:cNvSpPr/>
          <p:nvPr/>
        </p:nvSpPr>
        <p:spPr>
          <a:xfrm>
            <a:off x="6976872" y="4727448"/>
            <a:ext cx="3840480" cy="347472"/>
          </a:xfrm>
          <a:prstGeom prst="rect">
            <a:avLst/>
          </a:prstGeom>
          <a:noFill/>
          <a:ln/>
        </p:spPr>
        <p:txBody>
          <a:bodyPr wrap="square" lIns="0" tIns="0" rIns="0" bIns="0" rtlCol="0" anchor="ctr"/>
          <a:lstStyle/>
          <a:p>
            <a:pPr indent="0" marL="0">
              <a:buNone/>
            </a:pPr>
            <a:r>
              <a:rPr lang="en-US" sz="1400" b="1" dirty="0">
                <a:solidFill>
                  <a:srgbClr val="171B1F"/>
                </a:solidFill>
                <a:latin typeface="Aptos" pitchFamily="34" charset="0"/>
                <a:ea typeface="Aptos" pitchFamily="34" charset="-122"/>
                <a:cs typeface="Aptos" pitchFamily="34" charset="-120"/>
              </a:rPr>
              <a:t>Fail closed when BRAIN_OWNER_ID is absent.</a:t>
            </a:r>
            <a:endParaRPr lang="en-US" sz="140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04</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BEFORE BOTFATHER</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Four hard gates</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Do not activate the Telegram Trigger until every gate is green.</a:t>
            </a:r>
            <a:endParaRPr lang="en-US" sz="1450" dirty="0"/>
          </a:p>
        </p:txBody>
      </p:sp>
      <p:sp>
        <p:nvSpPr>
          <p:cNvPr id="6" name="Shape 4"/>
          <p:cNvSpPr/>
          <p:nvPr/>
        </p:nvSpPr>
        <p:spPr>
          <a:xfrm>
            <a:off x="676656" y="2029968"/>
            <a:ext cx="5102352" cy="1170432"/>
          </a:xfrm>
          <a:prstGeom prst="rect">
            <a:avLst/>
          </a:prstGeom>
          <a:solidFill>
            <a:srgbClr val="FFFFFF"/>
          </a:solidFill>
          <a:ln w="12700">
            <a:solidFill>
              <a:srgbClr val="D8D4CC"/>
            </a:solidFill>
            <a:prstDash val="solid"/>
          </a:ln>
        </p:spPr>
      </p:sp>
      <p:sp>
        <p:nvSpPr>
          <p:cNvPr id="7" name="Shape 5"/>
          <p:cNvSpPr/>
          <p:nvPr/>
        </p:nvSpPr>
        <p:spPr>
          <a:xfrm>
            <a:off x="676656" y="2029968"/>
            <a:ext cx="164592" cy="1170432"/>
          </a:xfrm>
          <a:prstGeom prst="rect">
            <a:avLst/>
          </a:prstGeom>
          <a:solidFill>
            <a:srgbClr val="2EA76F"/>
          </a:solidFill>
          <a:ln w="12700">
            <a:solidFill>
              <a:srgbClr val="2EA76F"/>
            </a:solidFill>
            <a:prstDash val="solid"/>
          </a:ln>
        </p:spPr>
      </p:sp>
      <p:sp>
        <p:nvSpPr>
          <p:cNvPr id="8" name="Text 6"/>
          <p:cNvSpPr/>
          <p:nvPr/>
        </p:nvSpPr>
        <p:spPr>
          <a:xfrm>
            <a:off x="1024128" y="2313432"/>
            <a:ext cx="621792" cy="420624"/>
          </a:xfrm>
          <a:prstGeom prst="rect">
            <a:avLst/>
          </a:prstGeom>
          <a:noFill/>
          <a:ln/>
        </p:spPr>
        <p:txBody>
          <a:bodyPr wrap="square" lIns="0" tIns="0" rIns="0" bIns="0" rtlCol="0" anchor="ctr"/>
          <a:lstStyle/>
          <a:p>
            <a:pPr indent="0" marL="0">
              <a:buNone/>
            </a:pPr>
            <a:r>
              <a:rPr lang="en-US" sz="2400" b="1" dirty="0">
                <a:solidFill>
                  <a:srgbClr val="2EA76F"/>
                </a:solidFill>
                <a:latin typeface="Aptos" pitchFamily="34" charset="0"/>
                <a:ea typeface="Aptos" pitchFamily="34" charset="-122"/>
                <a:cs typeface="Aptos" pitchFamily="34" charset="-120"/>
              </a:rPr>
              <a:t>01</a:t>
            </a:r>
            <a:endParaRPr lang="en-US" sz="2400" dirty="0"/>
          </a:p>
        </p:txBody>
      </p:sp>
      <p:sp>
        <p:nvSpPr>
          <p:cNvPr id="9" name="Text 7"/>
          <p:cNvSpPr/>
          <p:nvPr/>
        </p:nvSpPr>
        <p:spPr>
          <a:xfrm>
            <a:off x="1773936" y="2212848"/>
            <a:ext cx="2651760" cy="329184"/>
          </a:xfrm>
          <a:prstGeom prst="rect">
            <a:avLst/>
          </a:prstGeom>
          <a:noFill/>
          <a:ln/>
        </p:spPr>
        <p:txBody>
          <a:bodyPr wrap="square" lIns="0" tIns="0" rIns="0" bIns="0" rtlCol="0" anchor="ctr"/>
          <a:lstStyle/>
          <a:p>
            <a:pPr indent="0" marL="0">
              <a:buNone/>
            </a:pPr>
            <a:r>
              <a:rPr lang="en-US" sz="1800" b="1" dirty="0">
                <a:solidFill>
                  <a:srgbClr val="171B1F"/>
                </a:solidFill>
                <a:latin typeface="Aptos" pitchFamily="34" charset="0"/>
                <a:ea typeface="Aptos" pitchFamily="34" charset="-122"/>
                <a:cs typeface="Aptos" pitchFamily="34" charset="-120"/>
              </a:rPr>
              <a:t>Class 3 /ask</a:t>
            </a:r>
            <a:endParaRPr lang="en-US" sz="1800" dirty="0"/>
          </a:p>
        </p:txBody>
      </p:sp>
      <p:sp>
        <p:nvSpPr>
          <p:cNvPr id="10" name="Text 8"/>
          <p:cNvSpPr/>
          <p:nvPr/>
        </p:nvSpPr>
        <p:spPr>
          <a:xfrm>
            <a:off x="1773936" y="2670048"/>
            <a:ext cx="3337560" cy="256032"/>
          </a:xfrm>
          <a:prstGeom prst="rect">
            <a:avLst/>
          </a:prstGeom>
          <a:noFill/>
          <a:ln/>
        </p:spPr>
        <p:txBody>
          <a:bodyPr wrap="square" lIns="0" tIns="0" rIns="0" bIns="0" rtlCol="0" anchor="ctr"/>
          <a:lstStyle/>
          <a:p>
            <a:pPr indent="0" marL="0">
              <a:buNone/>
            </a:pPr>
            <a:r>
              <a:rPr lang="en-US" sz="1250" dirty="0">
                <a:solidFill>
                  <a:srgbClr val="6F736F"/>
                </a:solidFill>
                <a:latin typeface="Aptos" pitchFamily="34" charset="0"/>
                <a:ea typeface="Aptos" pitchFamily="34" charset="-122"/>
                <a:cs typeface="Aptos" pitchFamily="34" charset="-120"/>
              </a:rPr>
              <a:t>answers and refuses</a:t>
            </a:r>
            <a:endParaRPr lang="en-US" sz="1250" dirty="0"/>
          </a:p>
        </p:txBody>
      </p:sp>
      <p:sp>
        <p:nvSpPr>
          <p:cNvPr id="11" name="Shape 9"/>
          <p:cNvSpPr/>
          <p:nvPr/>
        </p:nvSpPr>
        <p:spPr>
          <a:xfrm>
            <a:off x="5138928" y="2350008"/>
            <a:ext cx="475488" cy="475488"/>
          </a:xfrm>
          <a:prstGeom prst="ellipse">
            <a:avLst/>
          </a:prstGeom>
          <a:solidFill>
            <a:srgbClr val="DFF3E9"/>
          </a:solidFill>
          <a:ln w="12700">
            <a:solidFill>
              <a:srgbClr val="DFF3E9"/>
            </a:solidFill>
            <a:prstDash val="solid"/>
          </a:ln>
        </p:spPr>
      </p:sp>
      <p:sp>
        <p:nvSpPr>
          <p:cNvPr id="12" name="Text 10"/>
          <p:cNvSpPr/>
          <p:nvPr/>
        </p:nvSpPr>
        <p:spPr>
          <a:xfrm>
            <a:off x="5138928" y="2423160"/>
            <a:ext cx="475488" cy="237744"/>
          </a:xfrm>
          <a:prstGeom prst="rect">
            <a:avLst/>
          </a:prstGeom>
          <a:noFill/>
          <a:ln/>
        </p:spPr>
        <p:txBody>
          <a:bodyPr wrap="square" lIns="0" tIns="0" rIns="0" bIns="0" rtlCol="0" anchor="ctr"/>
          <a:lstStyle/>
          <a:p>
            <a:pPr algn="ctr" indent="0" marL="0">
              <a:buNone/>
            </a:pPr>
            <a:r>
              <a:rPr lang="en-US" sz="1000" b="1" dirty="0">
                <a:solidFill>
                  <a:srgbClr val="2EA76F"/>
                </a:solidFill>
                <a:latin typeface="Aptos" pitchFamily="34" charset="0"/>
                <a:ea typeface="Aptos" pitchFamily="34" charset="-122"/>
                <a:cs typeface="Aptos" pitchFamily="34" charset="-120"/>
              </a:rPr>
              <a:t>OK</a:t>
            </a:r>
            <a:endParaRPr lang="en-US" sz="1000" dirty="0"/>
          </a:p>
        </p:txBody>
      </p:sp>
      <p:sp>
        <p:nvSpPr>
          <p:cNvPr id="13" name="Shape 11"/>
          <p:cNvSpPr/>
          <p:nvPr/>
        </p:nvSpPr>
        <p:spPr>
          <a:xfrm>
            <a:off x="6254496" y="2029968"/>
            <a:ext cx="5102352" cy="1170432"/>
          </a:xfrm>
          <a:prstGeom prst="rect">
            <a:avLst/>
          </a:prstGeom>
          <a:solidFill>
            <a:srgbClr val="FFFFFF"/>
          </a:solidFill>
          <a:ln w="12700">
            <a:solidFill>
              <a:srgbClr val="D8D4CC"/>
            </a:solidFill>
            <a:prstDash val="solid"/>
          </a:ln>
        </p:spPr>
      </p:sp>
      <p:sp>
        <p:nvSpPr>
          <p:cNvPr id="14" name="Shape 12"/>
          <p:cNvSpPr/>
          <p:nvPr/>
        </p:nvSpPr>
        <p:spPr>
          <a:xfrm>
            <a:off x="6254496" y="2029968"/>
            <a:ext cx="164592" cy="1170432"/>
          </a:xfrm>
          <a:prstGeom prst="rect">
            <a:avLst/>
          </a:prstGeom>
          <a:solidFill>
            <a:srgbClr val="229ED9"/>
          </a:solidFill>
          <a:ln w="12700">
            <a:solidFill>
              <a:srgbClr val="229ED9"/>
            </a:solidFill>
            <a:prstDash val="solid"/>
          </a:ln>
        </p:spPr>
      </p:sp>
      <p:sp>
        <p:nvSpPr>
          <p:cNvPr id="15" name="Text 13"/>
          <p:cNvSpPr/>
          <p:nvPr/>
        </p:nvSpPr>
        <p:spPr>
          <a:xfrm>
            <a:off x="6601968" y="2313432"/>
            <a:ext cx="621792" cy="420624"/>
          </a:xfrm>
          <a:prstGeom prst="rect">
            <a:avLst/>
          </a:prstGeom>
          <a:noFill/>
          <a:ln/>
        </p:spPr>
        <p:txBody>
          <a:bodyPr wrap="square" lIns="0" tIns="0" rIns="0" bIns="0" rtlCol="0" anchor="ctr"/>
          <a:lstStyle/>
          <a:p>
            <a:pPr indent="0" marL="0">
              <a:buNone/>
            </a:pPr>
            <a:r>
              <a:rPr lang="en-US" sz="2400" b="1" dirty="0">
                <a:solidFill>
                  <a:srgbClr val="229ED9"/>
                </a:solidFill>
                <a:latin typeface="Aptos" pitchFamily="34" charset="0"/>
                <a:ea typeface="Aptos" pitchFamily="34" charset="-122"/>
                <a:cs typeface="Aptos" pitchFamily="34" charset="-120"/>
              </a:rPr>
              <a:t>02</a:t>
            </a:r>
            <a:endParaRPr lang="en-US" sz="2400" dirty="0"/>
          </a:p>
        </p:txBody>
      </p:sp>
      <p:sp>
        <p:nvSpPr>
          <p:cNvPr id="16" name="Text 14"/>
          <p:cNvSpPr/>
          <p:nvPr/>
        </p:nvSpPr>
        <p:spPr>
          <a:xfrm>
            <a:off x="7351776" y="2212848"/>
            <a:ext cx="2651760" cy="329184"/>
          </a:xfrm>
          <a:prstGeom prst="rect">
            <a:avLst/>
          </a:prstGeom>
          <a:noFill/>
          <a:ln/>
        </p:spPr>
        <p:txBody>
          <a:bodyPr wrap="square" lIns="0" tIns="0" rIns="0" bIns="0" rtlCol="0" anchor="ctr"/>
          <a:lstStyle/>
          <a:p>
            <a:pPr indent="0" marL="0">
              <a:buNone/>
            </a:pPr>
            <a:r>
              <a:rPr lang="en-US" sz="1800" b="1" dirty="0">
                <a:solidFill>
                  <a:srgbClr val="171B1F"/>
                </a:solidFill>
                <a:latin typeface="Aptos" pitchFamily="34" charset="0"/>
                <a:ea typeface="Aptos" pitchFamily="34" charset="-122"/>
                <a:cs typeface="Aptos" pitchFamily="34" charset="-120"/>
              </a:rPr>
              <a:t>Public HTTPS</a:t>
            </a:r>
            <a:endParaRPr lang="en-US" sz="1800" dirty="0"/>
          </a:p>
        </p:txBody>
      </p:sp>
      <p:sp>
        <p:nvSpPr>
          <p:cNvPr id="17" name="Text 15"/>
          <p:cNvSpPr/>
          <p:nvPr/>
        </p:nvSpPr>
        <p:spPr>
          <a:xfrm>
            <a:off x="7351776" y="2670048"/>
            <a:ext cx="3337560" cy="256032"/>
          </a:xfrm>
          <a:prstGeom prst="rect">
            <a:avLst/>
          </a:prstGeom>
          <a:noFill/>
          <a:ln/>
        </p:spPr>
        <p:txBody>
          <a:bodyPr wrap="square" lIns="0" tIns="0" rIns="0" bIns="0" rtlCol="0" anchor="ctr"/>
          <a:lstStyle/>
          <a:p>
            <a:pPr indent="0" marL="0">
              <a:buNone/>
            </a:pPr>
            <a:r>
              <a:rPr lang="en-US" sz="1250" dirty="0">
                <a:solidFill>
                  <a:srgbClr val="6F736F"/>
                </a:solidFill>
                <a:latin typeface="Aptos" pitchFamily="34" charset="0"/>
                <a:ea typeface="Aptos" pitchFamily="34" charset="-122"/>
                <a:cs typeface="Aptos" pitchFamily="34" charset="-120"/>
              </a:rPr>
              <a:t>reaches this n8n</a:t>
            </a:r>
            <a:endParaRPr lang="en-US" sz="1250" dirty="0"/>
          </a:p>
        </p:txBody>
      </p:sp>
      <p:sp>
        <p:nvSpPr>
          <p:cNvPr id="18" name="Shape 16"/>
          <p:cNvSpPr/>
          <p:nvPr/>
        </p:nvSpPr>
        <p:spPr>
          <a:xfrm>
            <a:off x="10716768" y="2350008"/>
            <a:ext cx="475488" cy="475488"/>
          </a:xfrm>
          <a:prstGeom prst="ellipse">
            <a:avLst/>
          </a:prstGeom>
          <a:solidFill>
            <a:srgbClr val="DFF3E9"/>
          </a:solidFill>
          <a:ln w="12700">
            <a:solidFill>
              <a:srgbClr val="DFF3E9"/>
            </a:solidFill>
            <a:prstDash val="solid"/>
          </a:ln>
        </p:spPr>
      </p:sp>
      <p:sp>
        <p:nvSpPr>
          <p:cNvPr id="19" name="Text 17"/>
          <p:cNvSpPr/>
          <p:nvPr/>
        </p:nvSpPr>
        <p:spPr>
          <a:xfrm>
            <a:off x="10716768" y="2423160"/>
            <a:ext cx="475488" cy="237744"/>
          </a:xfrm>
          <a:prstGeom prst="rect">
            <a:avLst/>
          </a:prstGeom>
          <a:noFill/>
          <a:ln/>
        </p:spPr>
        <p:txBody>
          <a:bodyPr wrap="square" lIns="0" tIns="0" rIns="0" bIns="0" rtlCol="0" anchor="ctr"/>
          <a:lstStyle/>
          <a:p>
            <a:pPr algn="ctr" indent="0" marL="0">
              <a:buNone/>
            </a:pPr>
            <a:r>
              <a:rPr lang="en-US" sz="1000" b="1" dirty="0">
                <a:solidFill>
                  <a:srgbClr val="2EA76F"/>
                </a:solidFill>
                <a:latin typeface="Aptos" pitchFamily="34" charset="0"/>
                <a:ea typeface="Aptos" pitchFamily="34" charset="-122"/>
                <a:cs typeface="Aptos" pitchFamily="34" charset="-120"/>
              </a:rPr>
              <a:t>OK</a:t>
            </a:r>
            <a:endParaRPr lang="en-US" sz="1000" dirty="0"/>
          </a:p>
        </p:txBody>
      </p:sp>
      <p:sp>
        <p:nvSpPr>
          <p:cNvPr id="20" name="Shape 18"/>
          <p:cNvSpPr/>
          <p:nvPr/>
        </p:nvSpPr>
        <p:spPr>
          <a:xfrm>
            <a:off x="676656" y="3639312"/>
            <a:ext cx="5102352" cy="1170432"/>
          </a:xfrm>
          <a:prstGeom prst="rect">
            <a:avLst/>
          </a:prstGeom>
          <a:solidFill>
            <a:srgbClr val="FFFFFF"/>
          </a:solidFill>
          <a:ln w="12700">
            <a:solidFill>
              <a:srgbClr val="D8D4CC"/>
            </a:solidFill>
            <a:prstDash val="solid"/>
          </a:ln>
        </p:spPr>
      </p:sp>
      <p:sp>
        <p:nvSpPr>
          <p:cNvPr id="21" name="Shape 19"/>
          <p:cNvSpPr/>
          <p:nvPr/>
        </p:nvSpPr>
        <p:spPr>
          <a:xfrm>
            <a:off x="676656" y="3639312"/>
            <a:ext cx="164592" cy="1170432"/>
          </a:xfrm>
          <a:prstGeom prst="rect">
            <a:avLst/>
          </a:prstGeom>
          <a:solidFill>
            <a:srgbClr val="E8B84A"/>
          </a:solidFill>
          <a:ln w="12700">
            <a:solidFill>
              <a:srgbClr val="E8B84A"/>
            </a:solidFill>
            <a:prstDash val="solid"/>
          </a:ln>
        </p:spPr>
      </p:sp>
      <p:sp>
        <p:nvSpPr>
          <p:cNvPr id="22" name="Text 20"/>
          <p:cNvSpPr/>
          <p:nvPr/>
        </p:nvSpPr>
        <p:spPr>
          <a:xfrm>
            <a:off x="1024128" y="3922776"/>
            <a:ext cx="621792" cy="420624"/>
          </a:xfrm>
          <a:prstGeom prst="rect">
            <a:avLst/>
          </a:prstGeom>
          <a:noFill/>
          <a:ln/>
        </p:spPr>
        <p:txBody>
          <a:bodyPr wrap="square" lIns="0" tIns="0" rIns="0" bIns="0" rtlCol="0" anchor="ctr"/>
          <a:lstStyle/>
          <a:p>
            <a:pPr indent="0" marL="0">
              <a:buNone/>
            </a:pPr>
            <a:r>
              <a:rPr lang="en-US" sz="2400" b="1" dirty="0">
                <a:solidFill>
                  <a:srgbClr val="E8B84A"/>
                </a:solidFill>
                <a:latin typeface="Aptos" pitchFamily="34" charset="0"/>
                <a:ea typeface="Aptos" pitchFamily="34" charset="-122"/>
                <a:cs typeface="Aptos" pitchFamily="34" charset="-120"/>
              </a:rPr>
              <a:t>03</a:t>
            </a:r>
            <a:endParaRPr lang="en-US" sz="2400" dirty="0"/>
          </a:p>
        </p:txBody>
      </p:sp>
      <p:sp>
        <p:nvSpPr>
          <p:cNvPr id="23" name="Text 21"/>
          <p:cNvSpPr/>
          <p:nvPr/>
        </p:nvSpPr>
        <p:spPr>
          <a:xfrm>
            <a:off x="1773936" y="3822192"/>
            <a:ext cx="2651760" cy="329184"/>
          </a:xfrm>
          <a:prstGeom prst="rect">
            <a:avLst/>
          </a:prstGeom>
          <a:noFill/>
          <a:ln/>
        </p:spPr>
        <p:txBody>
          <a:bodyPr wrap="square" lIns="0" tIns="0" rIns="0" bIns="0" rtlCol="0" anchor="ctr"/>
          <a:lstStyle/>
          <a:p>
            <a:pPr indent="0" marL="0">
              <a:buNone/>
            </a:pPr>
            <a:r>
              <a:rPr lang="en-US" sz="1800" b="1" dirty="0">
                <a:solidFill>
                  <a:srgbClr val="171B1F"/>
                </a:solidFill>
                <a:latin typeface="Aptos" pitchFamily="34" charset="0"/>
                <a:ea typeface="Aptos" pitchFamily="34" charset="-122"/>
                <a:cs typeface="Aptos" pitchFamily="34" charset="-120"/>
              </a:rPr>
              <a:t>ffmpeg + libopus</a:t>
            </a:r>
            <a:endParaRPr lang="en-US" sz="1800" dirty="0"/>
          </a:p>
        </p:txBody>
      </p:sp>
      <p:sp>
        <p:nvSpPr>
          <p:cNvPr id="24" name="Text 22"/>
          <p:cNvSpPr/>
          <p:nvPr/>
        </p:nvSpPr>
        <p:spPr>
          <a:xfrm>
            <a:off x="1773936" y="4279392"/>
            <a:ext cx="3337560" cy="256032"/>
          </a:xfrm>
          <a:prstGeom prst="rect">
            <a:avLst/>
          </a:prstGeom>
          <a:noFill/>
          <a:ln/>
        </p:spPr>
        <p:txBody>
          <a:bodyPr wrap="square" lIns="0" tIns="0" rIns="0" bIns="0" rtlCol="0" anchor="ctr"/>
          <a:lstStyle/>
          <a:p>
            <a:pPr indent="0" marL="0">
              <a:buNone/>
            </a:pPr>
            <a:r>
              <a:rPr lang="en-US" sz="1250" dirty="0">
                <a:solidFill>
                  <a:srgbClr val="6F736F"/>
                </a:solidFill>
                <a:latin typeface="Aptos" pitchFamily="34" charset="0"/>
                <a:ea typeface="Aptos" pitchFamily="34" charset="-122"/>
                <a:cs typeface="Aptos" pitchFamily="34" charset="-120"/>
              </a:rPr>
              <a:t>runtime check passes</a:t>
            </a:r>
            <a:endParaRPr lang="en-US" sz="1250" dirty="0"/>
          </a:p>
        </p:txBody>
      </p:sp>
      <p:sp>
        <p:nvSpPr>
          <p:cNvPr id="25" name="Shape 23"/>
          <p:cNvSpPr/>
          <p:nvPr/>
        </p:nvSpPr>
        <p:spPr>
          <a:xfrm>
            <a:off x="5138928" y="3959352"/>
            <a:ext cx="475488" cy="475488"/>
          </a:xfrm>
          <a:prstGeom prst="ellipse">
            <a:avLst/>
          </a:prstGeom>
          <a:solidFill>
            <a:srgbClr val="DFF3E9"/>
          </a:solidFill>
          <a:ln w="12700">
            <a:solidFill>
              <a:srgbClr val="DFF3E9"/>
            </a:solidFill>
            <a:prstDash val="solid"/>
          </a:ln>
        </p:spPr>
      </p:sp>
      <p:sp>
        <p:nvSpPr>
          <p:cNvPr id="26" name="Text 24"/>
          <p:cNvSpPr/>
          <p:nvPr/>
        </p:nvSpPr>
        <p:spPr>
          <a:xfrm>
            <a:off x="5138928" y="4032504"/>
            <a:ext cx="475488" cy="237744"/>
          </a:xfrm>
          <a:prstGeom prst="rect">
            <a:avLst/>
          </a:prstGeom>
          <a:noFill/>
          <a:ln/>
        </p:spPr>
        <p:txBody>
          <a:bodyPr wrap="square" lIns="0" tIns="0" rIns="0" bIns="0" rtlCol="0" anchor="ctr"/>
          <a:lstStyle/>
          <a:p>
            <a:pPr algn="ctr" indent="0" marL="0">
              <a:buNone/>
            </a:pPr>
            <a:r>
              <a:rPr lang="en-US" sz="1000" b="1" dirty="0">
                <a:solidFill>
                  <a:srgbClr val="2EA76F"/>
                </a:solidFill>
                <a:latin typeface="Aptos" pitchFamily="34" charset="0"/>
                <a:ea typeface="Aptos" pitchFamily="34" charset="-122"/>
                <a:cs typeface="Aptos" pitchFamily="34" charset="-120"/>
              </a:rPr>
              <a:t>OK</a:t>
            </a:r>
            <a:endParaRPr lang="en-US" sz="1000" dirty="0"/>
          </a:p>
        </p:txBody>
      </p:sp>
      <p:sp>
        <p:nvSpPr>
          <p:cNvPr id="27" name="Shape 25"/>
          <p:cNvSpPr/>
          <p:nvPr/>
        </p:nvSpPr>
        <p:spPr>
          <a:xfrm>
            <a:off x="6254496" y="3639312"/>
            <a:ext cx="5102352" cy="1170432"/>
          </a:xfrm>
          <a:prstGeom prst="rect">
            <a:avLst/>
          </a:prstGeom>
          <a:solidFill>
            <a:srgbClr val="FFFFFF"/>
          </a:solidFill>
          <a:ln w="12700">
            <a:solidFill>
              <a:srgbClr val="D8D4CC"/>
            </a:solidFill>
            <a:prstDash val="solid"/>
          </a:ln>
        </p:spPr>
      </p:sp>
      <p:sp>
        <p:nvSpPr>
          <p:cNvPr id="28" name="Shape 26"/>
          <p:cNvSpPr/>
          <p:nvPr/>
        </p:nvSpPr>
        <p:spPr>
          <a:xfrm>
            <a:off x="6254496" y="3639312"/>
            <a:ext cx="164592" cy="1170432"/>
          </a:xfrm>
          <a:prstGeom prst="rect">
            <a:avLst/>
          </a:prstGeom>
          <a:solidFill>
            <a:srgbClr val="FF6B57"/>
          </a:solidFill>
          <a:ln w="12700">
            <a:solidFill>
              <a:srgbClr val="FF6B57"/>
            </a:solidFill>
            <a:prstDash val="solid"/>
          </a:ln>
        </p:spPr>
      </p:sp>
      <p:sp>
        <p:nvSpPr>
          <p:cNvPr id="29" name="Text 27"/>
          <p:cNvSpPr/>
          <p:nvPr/>
        </p:nvSpPr>
        <p:spPr>
          <a:xfrm>
            <a:off x="6601968" y="3922776"/>
            <a:ext cx="621792" cy="420624"/>
          </a:xfrm>
          <a:prstGeom prst="rect">
            <a:avLst/>
          </a:prstGeom>
          <a:noFill/>
          <a:ln/>
        </p:spPr>
        <p:txBody>
          <a:bodyPr wrap="square" lIns="0" tIns="0" rIns="0" bIns="0" rtlCol="0" anchor="ctr"/>
          <a:lstStyle/>
          <a:p>
            <a:pPr indent="0" marL="0">
              <a:buNone/>
            </a:pPr>
            <a:r>
              <a:rPr lang="en-US" sz="2400" b="1" dirty="0">
                <a:solidFill>
                  <a:srgbClr val="FF6B57"/>
                </a:solidFill>
                <a:latin typeface="Aptos" pitchFamily="34" charset="0"/>
                <a:ea typeface="Aptos" pitchFamily="34" charset="-122"/>
                <a:cs typeface="Aptos" pitchFamily="34" charset="-120"/>
              </a:rPr>
              <a:t>04</a:t>
            </a:r>
            <a:endParaRPr lang="en-US" sz="2400" dirty="0"/>
          </a:p>
        </p:txBody>
      </p:sp>
      <p:sp>
        <p:nvSpPr>
          <p:cNvPr id="30" name="Text 28"/>
          <p:cNvSpPr/>
          <p:nvPr/>
        </p:nvSpPr>
        <p:spPr>
          <a:xfrm>
            <a:off x="7351776" y="3822192"/>
            <a:ext cx="2651760" cy="329184"/>
          </a:xfrm>
          <a:prstGeom prst="rect">
            <a:avLst/>
          </a:prstGeom>
          <a:noFill/>
          <a:ln/>
        </p:spPr>
        <p:txBody>
          <a:bodyPr wrap="square" lIns="0" tIns="0" rIns="0" bIns="0" rtlCol="0" anchor="ctr"/>
          <a:lstStyle/>
          <a:p>
            <a:pPr indent="0" marL="0">
              <a:buNone/>
            </a:pPr>
            <a:r>
              <a:rPr lang="en-US" sz="1800" b="1" dirty="0">
                <a:solidFill>
                  <a:srgbClr val="171B1F"/>
                </a:solidFill>
                <a:latin typeface="Aptos" pitchFamily="34" charset="0"/>
                <a:ea typeface="Aptos" pitchFamily="34" charset="-122"/>
                <a:cs typeface="Aptos" pitchFamily="34" charset="-120"/>
              </a:rPr>
              <a:t>Separate bot</a:t>
            </a:r>
            <a:endParaRPr lang="en-US" sz="1800" dirty="0"/>
          </a:p>
        </p:txBody>
      </p:sp>
      <p:sp>
        <p:nvSpPr>
          <p:cNvPr id="31" name="Text 29"/>
          <p:cNvSpPr/>
          <p:nvPr/>
        </p:nvSpPr>
        <p:spPr>
          <a:xfrm>
            <a:off x="7351776" y="4279392"/>
            <a:ext cx="3337560" cy="256032"/>
          </a:xfrm>
          <a:prstGeom prst="rect">
            <a:avLst/>
          </a:prstGeom>
          <a:noFill/>
          <a:ln/>
        </p:spPr>
        <p:txBody>
          <a:bodyPr wrap="square" lIns="0" tIns="0" rIns="0" bIns="0" rtlCol="0" anchor="ctr"/>
          <a:lstStyle/>
          <a:p>
            <a:pPr indent="0" marL="0">
              <a:buNone/>
            </a:pPr>
            <a:r>
              <a:rPr lang="en-US" sz="1250" dirty="0">
                <a:solidFill>
                  <a:srgbClr val="6F736F"/>
                </a:solidFill>
                <a:latin typeface="Aptos" pitchFamily="34" charset="0"/>
                <a:ea typeface="Aptos" pitchFamily="34" charset="-122"/>
                <a:cs typeface="Aptos" pitchFamily="34" charset="-120"/>
              </a:rPr>
              <a:t>not Content Mate</a:t>
            </a:r>
            <a:endParaRPr lang="en-US" sz="1250" dirty="0"/>
          </a:p>
        </p:txBody>
      </p:sp>
      <p:sp>
        <p:nvSpPr>
          <p:cNvPr id="32" name="Shape 30"/>
          <p:cNvSpPr/>
          <p:nvPr/>
        </p:nvSpPr>
        <p:spPr>
          <a:xfrm>
            <a:off x="10716768" y="3959352"/>
            <a:ext cx="475488" cy="475488"/>
          </a:xfrm>
          <a:prstGeom prst="ellipse">
            <a:avLst/>
          </a:prstGeom>
          <a:solidFill>
            <a:srgbClr val="DFF3E9"/>
          </a:solidFill>
          <a:ln w="12700">
            <a:solidFill>
              <a:srgbClr val="DFF3E9"/>
            </a:solidFill>
            <a:prstDash val="solid"/>
          </a:ln>
        </p:spPr>
      </p:sp>
      <p:sp>
        <p:nvSpPr>
          <p:cNvPr id="33" name="Text 31"/>
          <p:cNvSpPr/>
          <p:nvPr/>
        </p:nvSpPr>
        <p:spPr>
          <a:xfrm>
            <a:off x="10716768" y="4032504"/>
            <a:ext cx="475488" cy="237744"/>
          </a:xfrm>
          <a:prstGeom prst="rect">
            <a:avLst/>
          </a:prstGeom>
          <a:noFill/>
          <a:ln/>
        </p:spPr>
        <p:txBody>
          <a:bodyPr wrap="square" lIns="0" tIns="0" rIns="0" bIns="0" rtlCol="0" anchor="ctr"/>
          <a:lstStyle/>
          <a:p>
            <a:pPr algn="ctr" indent="0" marL="0">
              <a:buNone/>
            </a:pPr>
            <a:r>
              <a:rPr lang="en-US" sz="1000" b="1" dirty="0">
                <a:solidFill>
                  <a:srgbClr val="2EA76F"/>
                </a:solidFill>
                <a:latin typeface="Aptos" pitchFamily="34" charset="0"/>
                <a:ea typeface="Aptos" pitchFamily="34" charset="-122"/>
                <a:cs typeface="Aptos" pitchFamily="34" charset="-120"/>
              </a:rPr>
              <a:t>OK</a:t>
            </a:r>
            <a:endParaRPr lang="en-US" sz="1000" dirty="0"/>
          </a:p>
        </p:txBody>
      </p:sp>
      <p:sp>
        <p:nvSpPr>
          <p:cNvPr id="34" name="Shape 32"/>
          <p:cNvSpPr/>
          <p:nvPr/>
        </p:nvSpPr>
        <p:spPr>
          <a:xfrm>
            <a:off x="676656" y="5376672"/>
            <a:ext cx="10680192" cy="475488"/>
          </a:xfrm>
          <a:prstGeom prst="rect">
            <a:avLst/>
          </a:prstGeom>
          <a:solidFill>
            <a:srgbClr val="FFE5DF"/>
          </a:solidFill>
          <a:ln w="12700">
            <a:solidFill>
              <a:srgbClr val="FFE5DF"/>
            </a:solidFill>
            <a:prstDash val="solid"/>
          </a:ln>
        </p:spPr>
      </p:sp>
      <p:sp>
        <p:nvSpPr>
          <p:cNvPr id="35" name="Text 33"/>
          <p:cNvSpPr/>
          <p:nvPr/>
        </p:nvSpPr>
        <p:spPr>
          <a:xfrm>
            <a:off x="914400" y="5468112"/>
            <a:ext cx="10204704" cy="256032"/>
          </a:xfrm>
          <a:prstGeom prst="rect">
            <a:avLst/>
          </a:prstGeom>
          <a:noFill/>
          <a:ln/>
        </p:spPr>
        <p:txBody>
          <a:bodyPr wrap="square" lIns="0" tIns="0" rIns="0" bIns="0" rtlCol="0" anchor="ctr"/>
          <a:lstStyle/>
          <a:p>
            <a:pPr algn="ctr" indent="0" marL="0">
              <a:buNone/>
            </a:pPr>
            <a:r>
              <a:rPr lang="en-US" sz="1400" b="1" dirty="0">
                <a:solidFill>
                  <a:srgbClr val="C83F49"/>
                </a:solidFill>
                <a:latin typeface="Aptos" pitchFamily="34" charset="0"/>
                <a:ea typeface="Aptos" pitchFamily="34" charset="-122"/>
                <a:cs typeface="Aptos" pitchFamily="34" charset="-120"/>
              </a:rPr>
              <a:t>localhost is not a webhook address Telegram can reach</a:t>
            </a:r>
            <a:endParaRPr lang="en-US" sz="140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05</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TELEGRAM</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Create a separate Brain bot</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Use this mock conversation on screen; keep the real account private.</a:t>
            </a:r>
            <a:endParaRPr lang="en-US" sz="1450" dirty="0"/>
          </a:p>
        </p:txBody>
      </p:sp>
      <p:sp>
        <p:nvSpPr>
          <p:cNvPr id="6" name="Shape 4"/>
          <p:cNvSpPr/>
          <p:nvPr/>
        </p:nvSpPr>
        <p:spPr>
          <a:xfrm>
            <a:off x="749808" y="1901952"/>
            <a:ext cx="6812280" cy="3950208"/>
          </a:xfrm>
          <a:prstGeom prst="roundRect">
            <a:avLst/>
          </a:prstGeom>
          <a:solidFill>
            <a:srgbClr val="FFFFFF"/>
          </a:solidFill>
          <a:ln w="12700">
            <a:solidFill>
              <a:srgbClr val="D8D4CC"/>
            </a:solidFill>
            <a:prstDash val="solid"/>
          </a:ln>
        </p:spPr>
      </p:sp>
      <p:sp>
        <p:nvSpPr>
          <p:cNvPr id="7" name="Shape 5"/>
          <p:cNvSpPr/>
          <p:nvPr/>
        </p:nvSpPr>
        <p:spPr>
          <a:xfrm>
            <a:off x="749808" y="1901952"/>
            <a:ext cx="6812280" cy="438912"/>
          </a:xfrm>
          <a:prstGeom prst="rect">
            <a:avLst/>
          </a:prstGeom>
          <a:solidFill>
            <a:srgbClr val="229ED9"/>
          </a:solidFill>
          <a:ln w="12700">
            <a:solidFill>
              <a:srgbClr val="229ED9"/>
            </a:solidFill>
            <a:prstDash val="solid"/>
          </a:ln>
        </p:spPr>
      </p:sp>
      <p:sp>
        <p:nvSpPr>
          <p:cNvPr id="8" name="Shape 6"/>
          <p:cNvSpPr/>
          <p:nvPr/>
        </p:nvSpPr>
        <p:spPr>
          <a:xfrm>
            <a:off x="896112" y="2048256"/>
            <a:ext cx="109728" cy="109728"/>
          </a:xfrm>
          <a:prstGeom prst="ellipse">
            <a:avLst/>
          </a:prstGeom>
          <a:solidFill>
            <a:srgbClr val="FF6B57"/>
          </a:solidFill>
          <a:ln w="12700">
            <a:solidFill>
              <a:srgbClr val="FF6B57"/>
            </a:solidFill>
            <a:prstDash val="solid"/>
          </a:ln>
        </p:spPr>
      </p:sp>
      <p:sp>
        <p:nvSpPr>
          <p:cNvPr id="9" name="Shape 7"/>
          <p:cNvSpPr/>
          <p:nvPr/>
        </p:nvSpPr>
        <p:spPr>
          <a:xfrm>
            <a:off x="1060704" y="2048256"/>
            <a:ext cx="109728" cy="109728"/>
          </a:xfrm>
          <a:prstGeom prst="ellipse">
            <a:avLst/>
          </a:prstGeom>
          <a:solidFill>
            <a:srgbClr val="E8B84A"/>
          </a:solidFill>
          <a:ln w="12700">
            <a:solidFill>
              <a:srgbClr val="E8B84A"/>
            </a:solidFill>
            <a:prstDash val="solid"/>
          </a:ln>
        </p:spPr>
      </p:sp>
      <p:sp>
        <p:nvSpPr>
          <p:cNvPr id="10" name="Shape 8"/>
          <p:cNvSpPr/>
          <p:nvPr/>
        </p:nvSpPr>
        <p:spPr>
          <a:xfrm>
            <a:off x="1225296" y="2048256"/>
            <a:ext cx="109728" cy="109728"/>
          </a:xfrm>
          <a:prstGeom prst="ellipse">
            <a:avLst/>
          </a:prstGeom>
          <a:solidFill>
            <a:srgbClr val="2EA76F"/>
          </a:solidFill>
          <a:ln w="12700">
            <a:solidFill>
              <a:srgbClr val="2EA76F"/>
            </a:solidFill>
            <a:prstDash val="solid"/>
          </a:ln>
        </p:spPr>
      </p:sp>
      <p:sp>
        <p:nvSpPr>
          <p:cNvPr id="11" name="Text 9"/>
          <p:cNvSpPr/>
          <p:nvPr/>
        </p:nvSpPr>
        <p:spPr>
          <a:xfrm>
            <a:off x="1463040" y="1965960"/>
            <a:ext cx="5916168" cy="274320"/>
          </a:xfrm>
          <a:prstGeom prst="rect">
            <a:avLst/>
          </a:prstGeom>
          <a:noFill/>
          <a:ln/>
        </p:spPr>
        <p:txBody>
          <a:bodyPr wrap="square" lIns="0" tIns="0" rIns="0" bIns="0" rtlCol="0" anchor="ctr"/>
          <a:lstStyle/>
          <a:p>
            <a:pPr indent="0" marL="0">
              <a:buNone/>
            </a:pPr>
            <a:r>
              <a:rPr lang="en-US" sz="1100" b="1" dirty="0">
                <a:solidFill>
                  <a:srgbClr val="FFFFFF"/>
                </a:solidFill>
                <a:latin typeface="Aptos" pitchFamily="34" charset="0"/>
                <a:ea typeface="Aptos" pitchFamily="34" charset="-122"/>
                <a:cs typeface="Aptos" pitchFamily="34" charset="-120"/>
              </a:rPr>
              <a:t>Telegram - @BotFather (mock)</a:t>
            </a:r>
            <a:endParaRPr lang="en-US" sz="1100" dirty="0"/>
          </a:p>
        </p:txBody>
      </p:sp>
      <p:sp>
        <p:nvSpPr>
          <p:cNvPr id="12" name="Shape 10"/>
          <p:cNvSpPr/>
          <p:nvPr/>
        </p:nvSpPr>
        <p:spPr>
          <a:xfrm>
            <a:off x="5330952" y="2587752"/>
            <a:ext cx="1627632" cy="411480"/>
          </a:xfrm>
          <a:prstGeom prst="roundRect">
            <a:avLst/>
          </a:prstGeom>
          <a:solidFill>
            <a:srgbClr val="DDF3FC"/>
          </a:solidFill>
          <a:ln w="12700">
            <a:solidFill>
              <a:srgbClr val="DDF3FC"/>
            </a:solidFill>
            <a:prstDash val="solid"/>
          </a:ln>
        </p:spPr>
      </p:sp>
      <p:sp>
        <p:nvSpPr>
          <p:cNvPr id="13" name="Text 11"/>
          <p:cNvSpPr/>
          <p:nvPr/>
        </p:nvSpPr>
        <p:spPr>
          <a:xfrm>
            <a:off x="5458968" y="2633472"/>
            <a:ext cx="1371600" cy="292608"/>
          </a:xfrm>
          <a:prstGeom prst="rect">
            <a:avLst/>
          </a:prstGeom>
          <a:noFill/>
          <a:ln/>
        </p:spPr>
        <p:txBody>
          <a:bodyPr wrap="square" lIns="0" tIns="0" rIns="0" bIns="0" rtlCol="0" anchor="ctr"/>
          <a:lstStyle/>
          <a:p>
            <a:pPr indent="0" marL="0">
              <a:buNone/>
            </a:pPr>
            <a:r>
              <a:rPr lang="en-US" sz="1200" dirty="0">
                <a:solidFill>
                  <a:srgbClr val="171B1F"/>
                </a:solidFill>
                <a:latin typeface="Aptos" pitchFamily="34" charset="0"/>
                <a:ea typeface="Aptos" pitchFamily="34" charset="-122"/>
                <a:cs typeface="Aptos" pitchFamily="34" charset="-120"/>
              </a:rPr>
              <a:t>/newbot</a:t>
            </a:r>
            <a:endParaRPr lang="en-US" sz="1200" dirty="0"/>
          </a:p>
        </p:txBody>
      </p:sp>
      <p:sp>
        <p:nvSpPr>
          <p:cNvPr id="14" name="Shape 12"/>
          <p:cNvSpPr/>
          <p:nvPr/>
        </p:nvSpPr>
        <p:spPr>
          <a:xfrm>
            <a:off x="1078992" y="3154680"/>
            <a:ext cx="3429000" cy="411480"/>
          </a:xfrm>
          <a:prstGeom prst="roundRect">
            <a:avLst/>
          </a:prstGeom>
          <a:solidFill>
            <a:srgbClr val="ECE9E2"/>
          </a:solidFill>
          <a:ln w="12700">
            <a:solidFill>
              <a:srgbClr val="ECE9E2"/>
            </a:solidFill>
            <a:prstDash val="solid"/>
          </a:ln>
        </p:spPr>
      </p:sp>
      <p:sp>
        <p:nvSpPr>
          <p:cNvPr id="15" name="Text 13"/>
          <p:cNvSpPr/>
          <p:nvPr/>
        </p:nvSpPr>
        <p:spPr>
          <a:xfrm>
            <a:off x="1207008" y="3200400"/>
            <a:ext cx="3172968" cy="292608"/>
          </a:xfrm>
          <a:prstGeom prst="rect">
            <a:avLst/>
          </a:prstGeom>
          <a:noFill/>
          <a:ln/>
        </p:spPr>
        <p:txBody>
          <a:bodyPr wrap="square" lIns="0" tIns="0" rIns="0" bIns="0" rtlCol="0" anchor="ctr"/>
          <a:lstStyle/>
          <a:p>
            <a:pPr indent="0" marL="0">
              <a:buNone/>
            </a:pPr>
            <a:r>
              <a:rPr lang="en-US" sz="1200" dirty="0">
                <a:solidFill>
                  <a:srgbClr val="171B1F"/>
                </a:solidFill>
                <a:latin typeface="Aptos" pitchFamily="34" charset="0"/>
                <a:ea typeface="Aptos" pitchFamily="34" charset="-122"/>
                <a:cs typeface="Aptos" pitchFamily="34" charset="-120"/>
              </a:rPr>
              <a:t>Choose a name for your bot.</a:t>
            </a:r>
            <a:endParaRPr lang="en-US" sz="1200" dirty="0"/>
          </a:p>
        </p:txBody>
      </p:sp>
      <p:sp>
        <p:nvSpPr>
          <p:cNvPr id="16" name="Shape 14"/>
          <p:cNvSpPr/>
          <p:nvPr/>
        </p:nvSpPr>
        <p:spPr>
          <a:xfrm>
            <a:off x="5129784" y="3703320"/>
            <a:ext cx="1828800" cy="411480"/>
          </a:xfrm>
          <a:prstGeom prst="roundRect">
            <a:avLst/>
          </a:prstGeom>
          <a:solidFill>
            <a:srgbClr val="DDF3FC"/>
          </a:solidFill>
          <a:ln w="12700">
            <a:solidFill>
              <a:srgbClr val="DDF3FC"/>
            </a:solidFill>
            <a:prstDash val="solid"/>
          </a:ln>
        </p:spPr>
      </p:sp>
      <p:sp>
        <p:nvSpPr>
          <p:cNvPr id="17" name="Text 15"/>
          <p:cNvSpPr/>
          <p:nvPr/>
        </p:nvSpPr>
        <p:spPr>
          <a:xfrm>
            <a:off x="5257800" y="3749040"/>
            <a:ext cx="1572768" cy="292608"/>
          </a:xfrm>
          <a:prstGeom prst="rect">
            <a:avLst/>
          </a:prstGeom>
          <a:noFill/>
          <a:ln/>
        </p:spPr>
        <p:txBody>
          <a:bodyPr wrap="square" lIns="0" tIns="0" rIns="0" bIns="0" rtlCol="0" anchor="ctr"/>
          <a:lstStyle/>
          <a:p>
            <a:pPr indent="0" marL="0">
              <a:buNone/>
            </a:pPr>
            <a:r>
              <a:rPr lang="en-US" sz="1200" dirty="0">
                <a:solidFill>
                  <a:srgbClr val="171B1F"/>
                </a:solidFill>
                <a:latin typeface="Aptos" pitchFamily="34" charset="0"/>
                <a:ea typeface="Aptos" pitchFamily="34" charset="-122"/>
                <a:cs typeface="Aptos" pitchFamily="34" charset="-120"/>
              </a:rPr>
              <a:t>My Brain</a:t>
            </a:r>
            <a:endParaRPr lang="en-US" sz="1200" dirty="0"/>
          </a:p>
        </p:txBody>
      </p:sp>
      <p:sp>
        <p:nvSpPr>
          <p:cNvPr id="18" name="Shape 16"/>
          <p:cNvSpPr/>
          <p:nvPr/>
        </p:nvSpPr>
        <p:spPr>
          <a:xfrm>
            <a:off x="1078992" y="4261104"/>
            <a:ext cx="3794760" cy="411480"/>
          </a:xfrm>
          <a:prstGeom prst="roundRect">
            <a:avLst/>
          </a:prstGeom>
          <a:solidFill>
            <a:srgbClr val="ECE9E2"/>
          </a:solidFill>
          <a:ln w="12700">
            <a:solidFill>
              <a:srgbClr val="ECE9E2"/>
            </a:solidFill>
            <a:prstDash val="solid"/>
          </a:ln>
        </p:spPr>
      </p:sp>
      <p:sp>
        <p:nvSpPr>
          <p:cNvPr id="19" name="Text 17"/>
          <p:cNvSpPr/>
          <p:nvPr/>
        </p:nvSpPr>
        <p:spPr>
          <a:xfrm>
            <a:off x="1207008" y="4306824"/>
            <a:ext cx="3538728" cy="292608"/>
          </a:xfrm>
          <a:prstGeom prst="rect">
            <a:avLst/>
          </a:prstGeom>
          <a:noFill/>
          <a:ln/>
        </p:spPr>
        <p:txBody>
          <a:bodyPr wrap="square" lIns="0" tIns="0" rIns="0" bIns="0" rtlCol="0" anchor="ctr"/>
          <a:lstStyle/>
          <a:p>
            <a:pPr indent="0" marL="0">
              <a:buNone/>
            </a:pPr>
            <a:r>
              <a:rPr lang="en-US" sz="1200" dirty="0">
                <a:solidFill>
                  <a:srgbClr val="171B1F"/>
                </a:solidFill>
                <a:latin typeface="Aptos" pitchFamily="34" charset="0"/>
                <a:ea typeface="Aptos" pitchFamily="34" charset="-122"/>
                <a:cs typeface="Aptos" pitchFamily="34" charset="-120"/>
              </a:rPr>
              <a:t>Choose a username ending in bot.</a:t>
            </a:r>
            <a:endParaRPr lang="en-US" sz="1200" dirty="0"/>
          </a:p>
        </p:txBody>
      </p:sp>
      <p:sp>
        <p:nvSpPr>
          <p:cNvPr id="20" name="Shape 18"/>
          <p:cNvSpPr/>
          <p:nvPr/>
        </p:nvSpPr>
        <p:spPr>
          <a:xfrm>
            <a:off x="4498848" y="4828032"/>
            <a:ext cx="2459736" cy="411480"/>
          </a:xfrm>
          <a:prstGeom prst="roundRect">
            <a:avLst/>
          </a:prstGeom>
          <a:solidFill>
            <a:srgbClr val="DDF3FC"/>
          </a:solidFill>
          <a:ln w="12700">
            <a:solidFill>
              <a:srgbClr val="DDF3FC"/>
            </a:solidFill>
            <a:prstDash val="solid"/>
          </a:ln>
        </p:spPr>
      </p:sp>
      <p:sp>
        <p:nvSpPr>
          <p:cNvPr id="21" name="Text 19"/>
          <p:cNvSpPr/>
          <p:nvPr/>
        </p:nvSpPr>
        <p:spPr>
          <a:xfrm>
            <a:off x="4626864" y="4873752"/>
            <a:ext cx="2203704" cy="292608"/>
          </a:xfrm>
          <a:prstGeom prst="rect">
            <a:avLst/>
          </a:prstGeom>
          <a:noFill/>
          <a:ln/>
        </p:spPr>
        <p:txBody>
          <a:bodyPr wrap="square" lIns="0" tIns="0" rIns="0" bIns="0" rtlCol="0" anchor="ctr"/>
          <a:lstStyle/>
          <a:p>
            <a:pPr indent="0" marL="0">
              <a:buNone/>
            </a:pPr>
            <a:r>
              <a:rPr lang="en-US" sz="1200" dirty="0">
                <a:solidFill>
                  <a:srgbClr val="171B1F"/>
                </a:solidFill>
                <a:latin typeface="Aptos" pitchFamily="34" charset="0"/>
                <a:ea typeface="Aptos" pitchFamily="34" charset="-122"/>
                <a:cs typeface="Aptos" pitchFamily="34" charset="-120"/>
              </a:rPr>
              <a:t>yourname_brain_bot</a:t>
            </a:r>
            <a:endParaRPr lang="en-US" sz="1200" dirty="0"/>
          </a:p>
        </p:txBody>
      </p:sp>
      <p:sp>
        <p:nvSpPr>
          <p:cNvPr id="22" name="Text 20"/>
          <p:cNvSpPr/>
          <p:nvPr/>
        </p:nvSpPr>
        <p:spPr>
          <a:xfrm>
            <a:off x="8092440" y="2048256"/>
            <a:ext cx="2926080" cy="329184"/>
          </a:xfrm>
          <a:prstGeom prst="rect">
            <a:avLst/>
          </a:prstGeom>
          <a:noFill/>
          <a:ln/>
        </p:spPr>
        <p:txBody>
          <a:bodyPr wrap="square" lIns="0" tIns="0" rIns="0" bIns="0" rtlCol="0" anchor="ctr"/>
          <a:lstStyle/>
          <a:p>
            <a:pPr indent="0" marL="0">
              <a:buNone/>
            </a:pPr>
            <a:r>
              <a:rPr lang="en-US" sz="1300" b="1" dirty="0">
                <a:solidFill>
                  <a:srgbClr val="FF6B57"/>
                </a:solidFill>
                <a:latin typeface="Aptos" pitchFamily="34" charset="0"/>
                <a:ea typeface="Aptos" pitchFamily="34" charset="-122"/>
                <a:cs typeface="Aptos" pitchFamily="34" charset="-120"/>
              </a:rPr>
              <a:t>LOCK IT DOWN</a:t>
            </a:r>
            <a:endParaRPr lang="en-US" sz="1300" dirty="0"/>
          </a:p>
        </p:txBody>
      </p:sp>
      <p:sp>
        <p:nvSpPr>
          <p:cNvPr id="23" name="Shape 21"/>
          <p:cNvSpPr/>
          <p:nvPr/>
        </p:nvSpPr>
        <p:spPr>
          <a:xfrm>
            <a:off x="8119872" y="2633472"/>
            <a:ext cx="384048" cy="384048"/>
          </a:xfrm>
          <a:prstGeom prst="ellipse">
            <a:avLst/>
          </a:prstGeom>
          <a:solidFill>
            <a:srgbClr val="229ED9"/>
          </a:solidFill>
          <a:ln w="12700">
            <a:solidFill>
              <a:srgbClr val="229ED9"/>
            </a:solidFill>
            <a:prstDash val="solid"/>
          </a:ln>
        </p:spPr>
      </p:sp>
      <p:sp>
        <p:nvSpPr>
          <p:cNvPr id="24" name="Text 22"/>
          <p:cNvSpPr/>
          <p:nvPr/>
        </p:nvSpPr>
        <p:spPr>
          <a:xfrm>
            <a:off x="8119872" y="264261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25" name="Text 23"/>
          <p:cNvSpPr/>
          <p:nvPr/>
        </p:nvSpPr>
        <p:spPr>
          <a:xfrm>
            <a:off x="8668512" y="2615184"/>
            <a:ext cx="1536192" cy="274320"/>
          </a:xfrm>
          <a:prstGeom prst="rect">
            <a:avLst/>
          </a:prstGeom>
          <a:noFill/>
          <a:ln/>
        </p:spPr>
        <p:txBody>
          <a:bodyPr wrap="square" lIns="0" tIns="0" rIns="0" bIns="0" rtlCol="0" anchor="ctr"/>
          <a:lstStyle/>
          <a:p>
            <a:pPr indent="0" marL="0">
              <a:buNone/>
            </a:pPr>
            <a:r>
              <a:rPr lang="en-US" sz="1150" b="1" dirty="0">
                <a:solidFill>
                  <a:srgbClr val="171B1F"/>
                </a:solidFill>
                <a:latin typeface="Consolas" pitchFamily="34" charset="0"/>
                <a:ea typeface="Consolas" pitchFamily="34" charset="-122"/>
                <a:cs typeface="Consolas" pitchFamily="34" charset="-120"/>
              </a:rPr>
              <a:t>/setjoingroups</a:t>
            </a:r>
            <a:endParaRPr lang="en-US" sz="1150" dirty="0"/>
          </a:p>
        </p:txBody>
      </p:sp>
      <p:sp>
        <p:nvSpPr>
          <p:cNvPr id="26" name="Text 24"/>
          <p:cNvSpPr/>
          <p:nvPr/>
        </p:nvSpPr>
        <p:spPr>
          <a:xfrm>
            <a:off x="10314432" y="2615184"/>
            <a:ext cx="941832" cy="274320"/>
          </a:xfrm>
          <a:prstGeom prst="rect">
            <a:avLst/>
          </a:prstGeom>
          <a:noFill/>
          <a:ln/>
        </p:spPr>
        <p:txBody>
          <a:bodyPr wrap="square" lIns="0" tIns="0" rIns="0" bIns="0" rtlCol="0" anchor="ctr"/>
          <a:lstStyle/>
          <a:p>
            <a:pPr algn="r" indent="0" marL="0">
              <a:buNone/>
            </a:pPr>
            <a:r>
              <a:rPr lang="en-US" sz="1050" dirty="0">
                <a:solidFill>
                  <a:srgbClr val="6F736F"/>
                </a:solidFill>
                <a:latin typeface="Aptos" pitchFamily="34" charset="0"/>
                <a:ea typeface="Aptos" pitchFamily="34" charset="-122"/>
                <a:cs typeface="Aptos" pitchFamily="34" charset="-120"/>
              </a:rPr>
              <a:t>Disable</a:t>
            </a:r>
            <a:endParaRPr lang="en-US" sz="1050" dirty="0"/>
          </a:p>
        </p:txBody>
      </p:sp>
      <p:sp>
        <p:nvSpPr>
          <p:cNvPr id="27" name="Shape 25"/>
          <p:cNvSpPr/>
          <p:nvPr/>
        </p:nvSpPr>
        <p:spPr>
          <a:xfrm>
            <a:off x="8119872" y="3319272"/>
            <a:ext cx="384048" cy="384048"/>
          </a:xfrm>
          <a:prstGeom prst="ellipse">
            <a:avLst/>
          </a:prstGeom>
          <a:solidFill>
            <a:srgbClr val="229ED9"/>
          </a:solidFill>
          <a:ln w="12700">
            <a:solidFill>
              <a:srgbClr val="229ED9"/>
            </a:solidFill>
            <a:prstDash val="solid"/>
          </a:ln>
        </p:spPr>
      </p:sp>
      <p:sp>
        <p:nvSpPr>
          <p:cNvPr id="28" name="Text 26"/>
          <p:cNvSpPr/>
          <p:nvPr/>
        </p:nvSpPr>
        <p:spPr>
          <a:xfrm>
            <a:off x="8119872" y="332841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29" name="Text 27"/>
          <p:cNvSpPr/>
          <p:nvPr/>
        </p:nvSpPr>
        <p:spPr>
          <a:xfrm>
            <a:off x="8668512" y="3300984"/>
            <a:ext cx="1536192" cy="274320"/>
          </a:xfrm>
          <a:prstGeom prst="rect">
            <a:avLst/>
          </a:prstGeom>
          <a:noFill/>
          <a:ln/>
        </p:spPr>
        <p:txBody>
          <a:bodyPr wrap="square" lIns="0" tIns="0" rIns="0" bIns="0" rtlCol="0" anchor="ctr"/>
          <a:lstStyle/>
          <a:p>
            <a:pPr indent="0" marL="0">
              <a:buNone/>
            </a:pPr>
            <a:r>
              <a:rPr lang="en-US" sz="1150" b="1" dirty="0">
                <a:solidFill>
                  <a:srgbClr val="171B1F"/>
                </a:solidFill>
                <a:latin typeface="Consolas" pitchFamily="34" charset="0"/>
                <a:ea typeface="Consolas" pitchFamily="34" charset="-122"/>
                <a:cs typeface="Consolas" pitchFamily="34" charset="-120"/>
              </a:rPr>
              <a:t>/setprivacy</a:t>
            </a:r>
            <a:endParaRPr lang="en-US" sz="1150" dirty="0"/>
          </a:p>
        </p:txBody>
      </p:sp>
      <p:sp>
        <p:nvSpPr>
          <p:cNvPr id="30" name="Text 28"/>
          <p:cNvSpPr/>
          <p:nvPr/>
        </p:nvSpPr>
        <p:spPr>
          <a:xfrm>
            <a:off x="10314432" y="3300984"/>
            <a:ext cx="941832" cy="274320"/>
          </a:xfrm>
          <a:prstGeom prst="rect">
            <a:avLst/>
          </a:prstGeom>
          <a:noFill/>
          <a:ln/>
        </p:spPr>
        <p:txBody>
          <a:bodyPr wrap="square" lIns="0" tIns="0" rIns="0" bIns="0" rtlCol="0" anchor="ctr"/>
          <a:lstStyle/>
          <a:p>
            <a:pPr algn="r" indent="0" marL="0">
              <a:buNone/>
            </a:pPr>
            <a:r>
              <a:rPr lang="en-US" sz="1050" dirty="0">
                <a:solidFill>
                  <a:srgbClr val="6F736F"/>
                </a:solidFill>
                <a:latin typeface="Aptos" pitchFamily="34" charset="0"/>
                <a:ea typeface="Aptos" pitchFamily="34" charset="-122"/>
                <a:cs typeface="Aptos" pitchFamily="34" charset="-120"/>
              </a:rPr>
              <a:t>Enable</a:t>
            </a:r>
            <a:endParaRPr lang="en-US" sz="1050" dirty="0"/>
          </a:p>
        </p:txBody>
      </p:sp>
      <p:sp>
        <p:nvSpPr>
          <p:cNvPr id="31" name="Shape 29"/>
          <p:cNvSpPr/>
          <p:nvPr/>
        </p:nvSpPr>
        <p:spPr>
          <a:xfrm>
            <a:off x="8119872" y="4005072"/>
            <a:ext cx="384048" cy="384048"/>
          </a:xfrm>
          <a:prstGeom prst="ellipse">
            <a:avLst/>
          </a:prstGeom>
          <a:solidFill>
            <a:srgbClr val="229ED9"/>
          </a:solidFill>
          <a:ln w="12700">
            <a:solidFill>
              <a:srgbClr val="229ED9"/>
            </a:solidFill>
            <a:prstDash val="solid"/>
          </a:ln>
        </p:spPr>
      </p:sp>
      <p:sp>
        <p:nvSpPr>
          <p:cNvPr id="32" name="Text 30"/>
          <p:cNvSpPr/>
          <p:nvPr/>
        </p:nvSpPr>
        <p:spPr>
          <a:xfrm>
            <a:off x="8119872" y="401421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3" name="Text 31"/>
          <p:cNvSpPr/>
          <p:nvPr/>
        </p:nvSpPr>
        <p:spPr>
          <a:xfrm>
            <a:off x="8668512" y="3986784"/>
            <a:ext cx="1536192" cy="274320"/>
          </a:xfrm>
          <a:prstGeom prst="rect">
            <a:avLst/>
          </a:prstGeom>
          <a:noFill/>
          <a:ln/>
        </p:spPr>
        <p:txBody>
          <a:bodyPr wrap="square" lIns="0" tIns="0" rIns="0" bIns="0" rtlCol="0" anchor="ctr"/>
          <a:lstStyle/>
          <a:p>
            <a:pPr indent="0" marL="0">
              <a:buNone/>
            </a:pPr>
            <a:r>
              <a:rPr lang="en-US" sz="1150" b="1" dirty="0">
                <a:solidFill>
                  <a:srgbClr val="171B1F"/>
                </a:solidFill>
                <a:latin typeface="Consolas" pitchFamily="34" charset="0"/>
                <a:ea typeface="Consolas" pitchFamily="34" charset="-122"/>
                <a:cs typeface="Consolas" pitchFamily="34" charset="-120"/>
              </a:rPr>
              <a:t>/setdescription</a:t>
            </a:r>
            <a:endParaRPr lang="en-US" sz="1150" dirty="0"/>
          </a:p>
        </p:txBody>
      </p:sp>
      <p:sp>
        <p:nvSpPr>
          <p:cNvPr id="34" name="Text 32"/>
          <p:cNvSpPr/>
          <p:nvPr/>
        </p:nvSpPr>
        <p:spPr>
          <a:xfrm>
            <a:off x="10314432" y="3986784"/>
            <a:ext cx="941832" cy="274320"/>
          </a:xfrm>
          <a:prstGeom prst="rect">
            <a:avLst/>
          </a:prstGeom>
          <a:noFill/>
          <a:ln/>
        </p:spPr>
        <p:txBody>
          <a:bodyPr wrap="square" lIns="0" tIns="0" rIns="0" bIns="0" rtlCol="0" anchor="ctr"/>
          <a:lstStyle/>
          <a:p>
            <a:pPr algn="r" indent="0" marL="0">
              <a:buNone/>
            </a:pPr>
            <a:r>
              <a:rPr lang="en-US" sz="1050" dirty="0">
                <a:solidFill>
                  <a:srgbClr val="6F736F"/>
                </a:solidFill>
                <a:latin typeface="Aptos" pitchFamily="34" charset="0"/>
                <a:ea typeface="Aptos" pitchFamily="34" charset="-122"/>
                <a:cs typeface="Aptos" pitchFamily="34" charset="-120"/>
              </a:rPr>
              <a:t>Keep it generic</a:t>
            </a:r>
            <a:endParaRPr lang="en-US" sz="1050" dirty="0"/>
          </a:p>
        </p:txBody>
      </p:sp>
      <p:sp>
        <p:nvSpPr>
          <p:cNvPr id="35" name="Shape 33"/>
          <p:cNvSpPr/>
          <p:nvPr/>
        </p:nvSpPr>
        <p:spPr>
          <a:xfrm>
            <a:off x="8119872" y="4690872"/>
            <a:ext cx="384048" cy="384048"/>
          </a:xfrm>
          <a:prstGeom prst="ellipse">
            <a:avLst/>
          </a:prstGeom>
          <a:solidFill>
            <a:srgbClr val="FF6B57"/>
          </a:solidFill>
          <a:ln w="12700">
            <a:solidFill>
              <a:srgbClr val="FF6B57"/>
            </a:solidFill>
            <a:prstDash val="solid"/>
          </a:ln>
        </p:spPr>
      </p:sp>
      <p:sp>
        <p:nvSpPr>
          <p:cNvPr id="36" name="Text 34"/>
          <p:cNvSpPr/>
          <p:nvPr/>
        </p:nvSpPr>
        <p:spPr>
          <a:xfrm>
            <a:off x="8119872" y="470001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7" name="Text 35"/>
          <p:cNvSpPr/>
          <p:nvPr/>
        </p:nvSpPr>
        <p:spPr>
          <a:xfrm>
            <a:off x="8668512" y="4672584"/>
            <a:ext cx="1536192" cy="274320"/>
          </a:xfrm>
          <a:prstGeom prst="rect">
            <a:avLst/>
          </a:prstGeom>
          <a:noFill/>
          <a:ln/>
        </p:spPr>
        <p:txBody>
          <a:bodyPr wrap="square" lIns="0" tIns="0" rIns="0" bIns="0" rtlCol="0" anchor="ctr"/>
          <a:lstStyle/>
          <a:p>
            <a:pPr indent="0" marL="0">
              <a:buNone/>
            </a:pPr>
            <a:r>
              <a:rPr lang="en-US" sz="1150" b="1" dirty="0">
                <a:solidFill>
                  <a:srgbClr val="171B1F"/>
                </a:solidFill>
                <a:latin typeface="Consolas" pitchFamily="34" charset="0"/>
                <a:ea typeface="Consolas" pitchFamily="34" charset="-122"/>
                <a:cs typeface="Consolas" pitchFamily="34" charset="-120"/>
              </a:rPr>
              <a:t>/revoke</a:t>
            </a:r>
            <a:endParaRPr lang="en-US" sz="1150" dirty="0"/>
          </a:p>
        </p:txBody>
      </p:sp>
      <p:sp>
        <p:nvSpPr>
          <p:cNvPr id="38" name="Text 36"/>
          <p:cNvSpPr/>
          <p:nvPr/>
        </p:nvSpPr>
        <p:spPr>
          <a:xfrm>
            <a:off x="10314432" y="4672584"/>
            <a:ext cx="941832" cy="274320"/>
          </a:xfrm>
          <a:prstGeom prst="rect">
            <a:avLst/>
          </a:prstGeom>
          <a:noFill/>
          <a:ln/>
        </p:spPr>
        <p:txBody>
          <a:bodyPr wrap="square" lIns="0" tIns="0" rIns="0" bIns="0" rtlCol="0" anchor="ctr"/>
          <a:lstStyle/>
          <a:p>
            <a:pPr algn="r" indent="0" marL="0">
              <a:buNone/>
            </a:pPr>
            <a:r>
              <a:rPr lang="en-US" sz="1050" dirty="0">
                <a:solidFill>
                  <a:srgbClr val="6F736F"/>
                </a:solidFill>
                <a:latin typeface="Aptos" pitchFamily="34" charset="0"/>
                <a:ea typeface="Aptos" pitchFamily="34" charset="-122"/>
                <a:cs typeface="Aptos" pitchFamily="34" charset="-120"/>
              </a:rPr>
              <a:t>After any leak</a:t>
            </a:r>
            <a:endParaRPr lang="en-US" sz="1050" dirty="0"/>
          </a:p>
        </p:txBody>
      </p:sp>
      <p:sp>
        <p:nvSpPr>
          <p:cNvPr id="39" name="Shape 37"/>
          <p:cNvSpPr/>
          <p:nvPr/>
        </p:nvSpPr>
        <p:spPr>
          <a:xfrm>
            <a:off x="8275320" y="5486400"/>
            <a:ext cx="2788920" cy="310896"/>
          </a:xfrm>
          <a:prstGeom prst="roundRect">
            <a:avLst/>
          </a:prstGeom>
          <a:solidFill>
            <a:srgbClr val="FFE5DF"/>
          </a:solidFill>
          <a:ln w="12700">
            <a:solidFill>
              <a:srgbClr val="FFE5DF"/>
            </a:solidFill>
            <a:prstDash val="solid"/>
          </a:ln>
        </p:spPr>
      </p:sp>
      <p:sp>
        <p:nvSpPr>
          <p:cNvPr id="40" name="Text 38"/>
          <p:cNvSpPr/>
          <p:nvPr/>
        </p:nvSpPr>
        <p:spPr>
          <a:xfrm>
            <a:off x="8348472" y="5495544"/>
            <a:ext cx="2642616" cy="274320"/>
          </a:xfrm>
          <a:prstGeom prst="rect">
            <a:avLst/>
          </a:prstGeom>
          <a:noFill/>
          <a:ln/>
        </p:spPr>
        <p:txBody>
          <a:bodyPr wrap="square" lIns="0" tIns="0" rIns="0" bIns="0" rtlCol="0" anchor="ctr"/>
          <a:lstStyle/>
          <a:p>
            <a:pPr algn="ctr" indent="0" marL="0">
              <a:buNone/>
            </a:pPr>
            <a:r>
              <a:rPr lang="en-US" sz="1050" b="1" dirty="0">
                <a:solidFill>
                  <a:srgbClr val="C83F49"/>
                </a:solidFill>
                <a:latin typeface="Aptos" pitchFamily="34" charset="0"/>
                <a:ea typeface="Aptos" pitchFamily="34" charset="-122"/>
                <a:cs typeface="Aptos" pitchFamily="34" charset="-120"/>
              </a:rPr>
              <a:t>TOKEN SHOWN AS [HIDDEN]</a:t>
            </a:r>
            <a:endParaRPr lang="en-US" sz="10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06</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PRIVATE STEP</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Keep this slide on screen</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The next command runs in a terminal that is not captured by the class recording.</a:t>
            </a:r>
            <a:endParaRPr lang="en-US" sz="1450" dirty="0"/>
          </a:p>
        </p:txBody>
      </p:sp>
      <p:sp>
        <p:nvSpPr>
          <p:cNvPr id="6" name="Shape 4"/>
          <p:cNvSpPr/>
          <p:nvPr/>
        </p:nvSpPr>
        <p:spPr>
          <a:xfrm>
            <a:off x="768096" y="2066544"/>
            <a:ext cx="6903720" cy="2487168"/>
          </a:xfrm>
          <a:prstGeom prst="roundRect">
            <a:avLst/>
          </a:prstGeom>
          <a:solidFill>
            <a:srgbClr val="171B1F"/>
          </a:solidFill>
          <a:ln w="12700">
            <a:solidFill>
              <a:srgbClr val="171B1F"/>
            </a:solidFill>
            <a:prstDash val="solid"/>
          </a:ln>
        </p:spPr>
      </p:sp>
      <p:sp>
        <p:nvSpPr>
          <p:cNvPr id="7" name="Shape 5"/>
          <p:cNvSpPr/>
          <p:nvPr/>
        </p:nvSpPr>
        <p:spPr>
          <a:xfrm>
            <a:off x="768096" y="2066544"/>
            <a:ext cx="6903720" cy="438912"/>
          </a:xfrm>
          <a:prstGeom prst="rect">
            <a:avLst/>
          </a:prstGeom>
          <a:solidFill>
            <a:srgbClr val="171B1F"/>
          </a:solidFill>
          <a:ln w="12700">
            <a:solidFill>
              <a:srgbClr val="171B1F"/>
            </a:solidFill>
            <a:prstDash val="solid"/>
          </a:ln>
        </p:spPr>
      </p:sp>
      <p:sp>
        <p:nvSpPr>
          <p:cNvPr id="8" name="Shape 6"/>
          <p:cNvSpPr/>
          <p:nvPr/>
        </p:nvSpPr>
        <p:spPr>
          <a:xfrm>
            <a:off x="914400" y="2212848"/>
            <a:ext cx="109728" cy="109728"/>
          </a:xfrm>
          <a:prstGeom prst="ellipse">
            <a:avLst/>
          </a:prstGeom>
          <a:solidFill>
            <a:srgbClr val="FF6B57"/>
          </a:solidFill>
          <a:ln w="12700">
            <a:solidFill>
              <a:srgbClr val="FF6B57"/>
            </a:solidFill>
            <a:prstDash val="solid"/>
          </a:ln>
        </p:spPr>
      </p:sp>
      <p:sp>
        <p:nvSpPr>
          <p:cNvPr id="9" name="Shape 7"/>
          <p:cNvSpPr/>
          <p:nvPr/>
        </p:nvSpPr>
        <p:spPr>
          <a:xfrm>
            <a:off x="1078992" y="2212848"/>
            <a:ext cx="109728" cy="109728"/>
          </a:xfrm>
          <a:prstGeom prst="ellipse">
            <a:avLst/>
          </a:prstGeom>
          <a:solidFill>
            <a:srgbClr val="E8B84A"/>
          </a:solidFill>
          <a:ln w="12700">
            <a:solidFill>
              <a:srgbClr val="E8B84A"/>
            </a:solidFill>
            <a:prstDash val="solid"/>
          </a:ln>
        </p:spPr>
      </p:sp>
      <p:sp>
        <p:nvSpPr>
          <p:cNvPr id="10" name="Shape 8"/>
          <p:cNvSpPr/>
          <p:nvPr/>
        </p:nvSpPr>
        <p:spPr>
          <a:xfrm>
            <a:off x="1243584" y="2212848"/>
            <a:ext cx="109728" cy="109728"/>
          </a:xfrm>
          <a:prstGeom prst="ellipse">
            <a:avLst/>
          </a:prstGeom>
          <a:solidFill>
            <a:srgbClr val="2EA76F"/>
          </a:solidFill>
          <a:ln w="12700">
            <a:solidFill>
              <a:srgbClr val="2EA76F"/>
            </a:solidFill>
            <a:prstDash val="solid"/>
          </a:ln>
        </p:spPr>
      </p:sp>
      <p:sp>
        <p:nvSpPr>
          <p:cNvPr id="11" name="Text 9"/>
          <p:cNvSpPr/>
          <p:nvPr/>
        </p:nvSpPr>
        <p:spPr>
          <a:xfrm>
            <a:off x="1481328" y="2130552"/>
            <a:ext cx="6007608" cy="274320"/>
          </a:xfrm>
          <a:prstGeom prst="rect">
            <a:avLst/>
          </a:prstGeom>
          <a:noFill/>
          <a:ln/>
        </p:spPr>
        <p:txBody>
          <a:bodyPr wrap="square" lIns="0" tIns="0" rIns="0" bIns="0" rtlCol="0" anchor="ctr"/>
          <a:lstStyle/>
          <a:p>
            <a:pPr indent="0" marL="0">
              <a:buNone/>
            </a:pPr>
            <a:r>
              <a:rPr lang="en-US" sz="1100" b="1" dirty="0">
                <a:solidFill>
                  <a:srgbClr val="FFFFFF"/>
                </a:solidFill>
                <a:latin typeface="Aptos" pitchFamily="34" charset="0"/>
                <a:ea typeface="Aptos" pitchFamily="34" charset="-122"/>
                <a:cs typeface="Aptos" pitchFamily="34" charset="-120"/>
              </a:rPr>
              <a:t>PRIVATE TERMINAL - NOT SHARED</a:t>
            </a:r>
            <a:endParaRPr lang="en-US" sz="1100" dirty="0"/>
          </a:p>
        </p:txBody>
      </p:sp>
      <p:sp>
        <p:nvSpPr>
          <p:cNvPr id="12" name="Text 10"/>
          <p:cNvSpPr/>
          <p:nvPr/>
        </p:nvSpPr>
        <p:spPr>
          <a:xfrm>
            <a:off x="1115568" y="2798064"/>
            <a:ext cx="6172200" cy="384048"/>
          </a:xfrm>
          <a:prstGeom prst="rect">
            <a:avLst/>
          </a:prstGeom>
          <a:noFill/>
          <a:ln/>
        </p:spPr>
        <p:txBody>
          <a:bodyPr wrap="square" lIns="0" tIns="0" rIns="0" bIns="0" rtlCol="0" anchor="ctr"/>
          <a:lstStyle/>
          <a:p>
            <a:pPr indent="0" marL="0">
              <a:buNone/>
            </a:pPr>
            <a:r>
              <a:rPr lang="en-US" sz="1700" dirty="0">
                <a:solidFill>
                  <a:srgbClr val="DFF3E9"/>
                </a:solidFill>
                <a:latin typeface="Consolas" pitchFamily="34" charset="0"/>
                <a:ea typeface="Consolas" pitchFamily="34" charset="-122"/>
                <a:cs typeface="Consolas" pitchFamily="34" charset="-120"/>
              </a:rPr>
              <a:t>$ bash setup-telegram-private.sh --stack ~/brain</a:t>
            </a:r>
            <a:endParaRPr lang="en-US" sz="1700" dirty="0"/>
          </a:p>
        </p:txBody>
      </p:sp>
      <p:sp>
        <p:nvSpPr>
          <p:cNvPr id="13" name="Text 11"/>
          <p:cNvSpPr/>
          <p:nvPr/>
        </p:nvSpPr>
        <p:spPr>
          <a:xfrm>
            <a:off x="1115568" y="3328416"/>
            <a:ext cx="5394960" cy="841248"/>
          </a:xfrm>
          <a:prstGeom prst="rect">
            <a:avLst/>
          </a:prstGeom>
          <a:noFill/>
          <a:ln/>
        </p:spPr>
        <p:txBody>
          <a:bodyPr wrap="square" lIns="0" tIns="0" rIns="0" bIns="0" rtlCol="0" anchor="t"/>
          <a:lstStyle/>
          <a:p>
            <a:pPr indent="0" marL="0">
              <a:buNone/>
            </a:pPr>
            <a:r>
              <a:rPr lang="en-US" sz="1350" dirty="0">
                <a:solidFill>
                  <a:srgbClr val="D5DADD"/>
                </a:solidFill>
                <a:latin typeface="Consolas" pitchFamily="34" charset="0"/>
                <a:ea typeface="Consolas" pitchFamily="34" charset="-122"/>
                <a:cs typeface="Consolas" pitchFamily="34" charset="-120"/>
              </a:rPr>
              <a:t>Public HTTPS URL:  [input hidden]</a:t>
            </a:r>
            <a:endParaRPr lang="en-US" sz="1350" dirty="0"/>
          </a:p>
          <a:p>
            <a:pPr indent="0" marL="0">
              <a:buNone/>
            </a:pPr>
            <a:r>
              <a:rPr lang="en-US" sz="1350" dirty="0">
                <a:solidFill>
                  <a:srgbClr val="D5DADD"/>
                </a:solidFill>
                <a:latin typeface="Consolas" pitchFamily="34" charset="0"/>
                <a:ea typeface="Consolas" pitchFamily="34" charset="-122"/>
                <a:cs typeface="Consolas" pitchFamily="34" charset="-120"/>
              </a:rPr>
              <a:t>BotFather token:      [input hidden]</a:t>
            </a:r>
            <a:endParaRPr lang="en-US" sz="1350" dirty="0"/>
          </a:p>
          <a:p>
            <a:pPr indent="0" marL="0">
              <a:buNone/>
            </a:pPr>
            <a:r>
              <a:rPr lang="en-US" sz="1350" dirty="0">
                <a:solidFill>
                  <a:srgbClr val="D5DADD"/>
                </a:solidFill>
                <a:latin typeface="Consolas" pitchFamily="34" charset="0"/>
                <a:ea typeface="Consolas" pitchFamily="34" charset="-122"/>
                <a:cs typeface="Consolas" pitchFamily="34" charset="-120"/>
              </a:rPr>
              <a:t>Telegram owner ID:   [input hidden]</a:t>
            </a:r>
            <a:endParaRPr lang="en-US" sz="1350" dirty="0"/>
          </a:p>
        </p:txBody>
      </p:sp>
      <p:sp>
        <p:nvSpPr>
          <p:cNvPr id="14" name="Text 12"/>
          <p:cNvSpPr/>
          <p:nvPr/>
        </p:nvSpPr>
        <p:spPr>
          <a:xfrm>
            <a:off x="8247888" y="2176272"/>
            <a:ext cx="1234440" cy="566928"/>
          </a:xfrm>
          <a:prstGeom prst="rect">
            <a:avLst/>
          </a:prstGeom>
          <a:noFill/>
          <a:ln/>
        </p:spPr>
        <p:txBody>
          <a:bodyPr wrap="square" lIns="0" tIns="0" rIns="0" bIns="0" rtlCol="0" anchor="ctr"/>
          <a:lstStyle/>
          <a:p>
            <a:pPr algn="ctr" indent="0" marL="0">
              <a:buNone/>
            </a:pPr>
            <a:r>
              <a:rPr lang="en-US" sz="3400" b="1" dirty="0">
                <a:solidFill>
                  <a:srgbClr val="229ED9"/>
                </a:solidFill>
                <a:latin typeface="Aptos" pitchFamily="34" charset="0"/>
                <a:ea typeface="Aptos" pitchFamily="34" charset="-122"/>
                <a:cs typeface="Aptos" pitchFamily="34" charset="-120"/>
              </a:rPr>
              <a:t>600</a:t>
            </a:r>
            <a:endParaRPr lang="en-US" sz="3400" dirty="0"/>
          </a:p>
        </p:txBody>
      </p:sp>
      <p:sp>
        <p:nvSpPr>
          <p:cNvPr id="15" name="Text 13"/>
          <p:cNvSpPr/>
          <p:nvPr/>
        </p:nvSpPr>
        <p:spPr>
          <a:xfrm>
            <a:off x="8247888" y="2770632"/>
            <a:ext cx="1234440" cy="438912"/>
          </a:xfrm>
          <a:prstGeom prst="rect">
            <a:avLst/>
          </a:prstGeom>
          <a:noFill/>
          <a:ln/>
        </p:spPr>
        <p:txBody>
          <a:bodyPr wrap="square" lIns="0" tIns="0" rIns="0" bIns="0" rtlCol="0" anchor="t"/>
          <a:lstStyle/>
          <a:p>
            <a:pPr algn="ctr" indent="0" marL="0">
              <a:buNone/>
            </a:pPr>
            <a:r>
              <a:rPr lang="en-US" sz="1100" dirty="0">
                <a:solidFill>
                  <a:srgbClr val="6F736F"/>
                </a:solidFill>
                <a:latin typeface="Aptos" pitchFamily="34" charset="0"/>
                <a:ea typeface="Aptos" pitchFamily="34" charset="-122"/>
                <a:cs typeface="Aptos" pitchFamily="34" charset="-120"/>
              </a:rPr>
              <a:t>private file mode</a:t>
            </a:r>
            <a:endParaRPr lang="en-US" sz="1100" dirty="0"/>
          </a:p>
        </p:txBody>
      </p:sp>
      <p:sp>
        <p:nvSpPr>
          <p:cNvPr id="16" name="Text 14"/>
          <p:cNvSpPr/>
          <p:nvPr/>
        </p:nvSpPr>
        <p:spPr>
          <a:xfrm>
            <a:off x="9820656" y="2176272"/>
            <a:ext cx="1234440" cy="566928"/>
          </a:xfrm>
          <a:prstGeom prst="rect">
            <a:avLst/>
          </a:prstGeom>
          <a:noFill/>
          <a:ln/>
        </p:spPr>
        <p:txBody>
          <a:bodyPr wrap="square" lIns="0" tIns="0" rIns="0" bIns="0" rtlCol="0" anchor="ctr"/>
          <a:lstStyle/>
          <a:p>
            <a:pPr algn="ctr" indent="0" marL="0">
              <a:buNone/>
            </a:pPr>
            <a:r>
              <a:rPr lang="en-US" sz="3400" b="1" dirty="0">
                <a:solidFill>
                  <a:srgbClr val="FF6B57"/>
                </a:solidFill>
                <a:latin typeface="Aptos" pitchFamily="34" charset="0"/>
                <a:ea typeface="Aptos" pitchFamily="34" charset="-122"/>
                <a:cs typeface="Aptos" pitchFamily="34" charset="-120"/>
              </a:rPr>
              <a:t>0</a:t>
            </a:r>
            <a:endParaRPr lang="en-US" sz="3400" dirty="0"/>
          </a:p>
        </p:txBody>
      </p:sp>
      <p:sp>
        <p:nvSpPr>
          <p:cNvPr id="17" name="Text 15"/>
          <p:cNvSpPr/>
          <p:nvPr/>
        </p:nvSpPr>
        <p:spPr>
          <a:xfrm>
            <a:off x="9820656" y="2770632"/>
            <a:ext cx="1234440" cy="438912"/>
          </a:xfrm>
          <a:prstGeom prst="rect">
            <a:avLst/>
          </a:prstGeom>
          <a:noFill/>
          <a:ln/>
        </p:spPr>
        <p:txBody>
          <a:bodyPr wrap="square" lIns="0" tIns="0" rIns="0" bIns="0" rtlCol="0" anchor="t"/>
          <a:lstStyle/>
          <a:p>
            <a:pPr algn="ctr" indent="0" marL="0">
              <a:buNone/>
            </a:pPr>
            <a:r>
              <a:rPr lang="en-US" sz="1100" dirty="0">
                <a:solidFill>
                  <a:srgbClr val="6F736F"/>
                </a:solidFill>
                <a:latin typeface="Aptos" pitchFamily="34" charset="0"/>
                <a:ea typeface="Aptos" pitchFamily="34" charset="-122"/>
                <a:cs typeface="Aptos" pitchFamily="34" charset="-120"/>
              </a:rPr>
              <a:t>secret values printed</a:t>
            </a:r>
            <a:endParaRPr lang="en-US" sz="1100" dirty="0"/>
          </a:p>
        </p:txBody>
      </p:sp>
      <p:sp>
        <p:nvSpPr>
          <p:cNvPr id="18" name="Text 16"/>
          <p:cNvSpPr/>
          <p:nvPr/>
        </p:nvSpPr>
        <p:spPr>
          <a:xfrm>
            <a:off x="8247888" y="3593592"/>
            <a:ext cx="1234440" cy="566928"/>
          </a:xfrm>
          <a:prstGeom prst="rect">
            <a:avLst/>
          </a:prstGeom>
          <a:noFill/>
          <a:ln/>
        </p:spPr>
        <p:txBody>
          <a:bodyPr wrap="square" lIns="0" tIns="0" rIns="0" bIns="0" rtlCol="0" anchor="ctr"/>
          <a:lstStyle/>
          <a:p>
            <a:pPr algn="ctr" indent="0" marL="0">
              <a:buNone/>
            </a:pPr>
            <a:r>
              <a:rPr lang="en-US" sz="3400" b="1" dirty="0">
                <a:solidFill>
                  <a:srgbClr val="229ED9"/>
                </a:solidFill>
                <a:latin typeface="Aptos" pitchFamily="34" charset="0"/>
                <a:ea typeface="Aptos" pitchFamily="34" charset="-122"/>
                <a:cs typeface="Aptos" pitchFamily="34" charset="-120"/>
              </a:rPr>
              <a:t>1</a:t>
            </a:r>
            <a:endParaRPr lang="en-US" sz="3400" dirty="0"/>
          </a:p>
        </p:txBody>
      </p:sp>
      <p:sp>
        <p:nvSpPr>
          <p:cNvPr id="19" name="Text 17"/>
          <p:cNvSpPr/>
          <p:nvPr/>
        </p:nvSpPr>
        <p:spPr>
          <a:xfrm>
            <a:off x="8247888" y="4187952"/>
            <a:ext cx="1234440" cy="438912"/>
          </a:xfrm>
          <a:prstGeom prst="rect">
            <a:avLst/>
          </a:prstGeom>
          <a:noFill/>
          <a:ln/>
        </p:spPr>
        <p:txBody>
          <a:bodyPr wrap="square" lIns="0" tIns="0" rIns="0" bIns="0" rtlCol="0" anchor="t"/>
          <a:lstStyle/>
          <a:p>
            <a:pPr algn="ctr" indent="0" marL="0">
              <a:buNone/>
            </a:pPr>
            <a:r>
              <a:rPr lang="en-US" sz="1100" dirty="0">
                <a:solidFill>
                  <a:srgbClr val="6F736F"/>
                </a:solidFill>
                <a:latin typeface="Aptos" pitchFamily="34" charset="0"/>
                <a:ea typeface="Aptos" pitchFamily="34" charset="-122"/>
                <a:cs typeface="Aptos" pitchFamily="34" charset="-120"/>
              </a:rPr>
              <a:t>clipboard handoff</a:t>
            </a:r>
            <a:endParaRPr lang="en-US" sz="1100" dirty="0"/>
          </a:p>
        </p:txBody>
      </p:sp>
      <p:sp>
        <p:nvSpPr>
          <p:cNvPr id="20" name="Shape 18"/>
          <p:cNvSpPr/>
          <p:nvPr/>
        </p:nvSpPr>
        <p:spPr>
          <a:xfrm>
            <a:off x="8083296" y="4882896"/>
            <a:ext cx="3273552" cy="621792"/>
          </a:xfrm>
          <a:prstGeom prst="rect">
            <a:avLst/>
          </a:prstGeom>
          <a:solidFill>
            <a:srgbClr val="DFF3E9"/>
          </a:solidFill>
          <a:ln w="12700">
            <a:solidFill>
              <a:srgbClr val="DFF3E9"/>
            </a:solidFill>
            <a:prstDash val="solid"/>
          </a:ln>
        </p:spPr>
      </p:sp>
      <p:sp>
        <p:nvSpPr>
          <p:cNvPr id="21" name="Text 19"/>
          <p:cNvSpPr/>
          <p:nvPr/>
        </p:nvSpPr>
        <p:spPr>
          <a:xfrm>
            <a:off x="8302752" y="5010912"/>
            <a:ext cx="2834640" cy="329184"/>
          </a:xfrm>
          <a:prstGeom prst="rect">
            <a:avLst/>
          </a:prstGeom>
          <a:noFill/>
          <a:ln/>
        </p:spPr>
        <p:txBody>
          <a:bodyPr wrap="square" lIns="0" tIns="0" rIns="0" bIns="0" rtlCol="0" anchor="ctr"/>
          <a:lstStyle/>
          <a:p>
            <a:pPr algn="ctr" indent="0" marL="0">
              <a:buNone/>
            </a:pPr>
            <a:r>
              <a:rPr lang="en-US" sz="1250" b="1" dirty="0">
                <a:solidFill>
                  <a:srgbClr val="2EA76F"/>
                </a:solidFill>
                <a:latin typeface="Aptos" pitchFamily="34" charset="0"/>
                <a:ea typeface="Aptos" pitchFamily="34" charset="-122"/>
                <a:cs typeface="Aptos" pitchFamily="34" charset="-120"/>
              </a:rPr>
              <a:t>Paste credential -&gt; save -&gt; clear clipboard</a:t>
            </a:r>
            <a:endParaRPr lang="en-US" sz="12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07</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WHY THE SCRIPT EXISTS</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.env is not container environment</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Two common commands looked reasonable and still left both variables empty.</a:t>
            </a:r>
            <a:endParaRPr lang="en-US" sz="1450" dirty="0"/>
          </a:p>
        </p:txBody>
      </p:sp>
      <p:sp>
        <p:nvSpPr>
          <p:cNvPr id="6" name="Text 4"/>
          <p:cNvSpPr/>
          <p:nvPr/>
        </p:nvSpPr>
        <p:spPr>
          <a:xfrm>
            <a:off x="749808" y="1956816"/>
            <a:ext cx="1828800" cy="329184"/>
          </a:xfrm>
          <a:prstGeom prst="rect">
            <a:avLst/>
          </a:prstGeom>
          <a:noFill/>
          <a:ln/>
        </p:spPr>
        <p:txBody>
          <a:bodyPr wrap="square" lIns="0" tIns="0" rIns="0" bIns="0" rtlCol="0" anchor="ctr"/>
          <a:lstStyle/>
          <a:p>
            <a:pPr indent="0" marL="0">
              <a:buNone/>
            </a:pPr>
            <a:r>
              <a:rPr lang="en-US" sz="1300" b="1" spc="120" kern="0" dirty="0">
                <a:solidFill>
                  <a:srgbClr val="C83F49"/>
                </a:solidFill>
                <a:latin typeface="Aptos" pitchFamily="34" charset="0"/>
                <a:ea typeface="Aptos" pitchFamily="34" charset="-122"/>
                <a:cs typeface="Aptos" pitchFamily="34" charset="-120"/>
              </a:rPr>
              <a:t>BEFORE</a:t>
            </a:r>
            <a:endParaRPr lang="en-US" sz="1300" dirty="0"/>
          </a:p>
        </p:txBody>
      </p:sp>
      <p:sp>
        <p:nvSpPr>
          <p:cNvPr id="7" name="Shape 5"/>
          <p:cNvSpPr/>
          <p:nvPr/>
        </p:nvSpPr>
        <p:spPr>
          <a:xfrm>
            <a:off x="749808" y="2395728"/>
            <a:ext cx="4892040" cy="2331720"/>
          </a:xfrm>
          <a:prstGeom prst="rect">
            <a:avLst/>
          </a:prstGeom>
          <a:solidFill>
            <a:srgbClr val="FFE5DF"/>
          </a:solidFill>
          <a:ln w="12700">
            <a:solidFill>
              <a:srgbClr val="FFE5DF"/>
            </a:solidFill>
            <a:prstDash val="solid"/>
          </a:ln>
        </p:spPr>
      </p:sp>
      <p:sp>
        <p:nvSpPr>
          <p:cNvPr id="8" name="Text 6"/>
          <p:cNvSpPr/>
          <p:nvPr/>
        </p:nvSpPr>
        <p:spPr>
          <a:xfrm>
            <a:off x="1078992" y="2670048"/>
            <a:ext cx="914400" cy="329184"/>
          </a:xfrm>
          <a:prstGeom prst="rect">
            <a:avLst/>
          </a:prstGeom>
          <a:noFill/>
          <a:ln/>
        </p:spPr>
        <p:txBody>
          <a:bodyPr wrap="square" lIns="0" tIns="0" rIns="0" bIns="0" rtlCol="0" anchor="ctr"/>
          <a:lstStyle/>
          <a:p>
            <a:pPr indent="0" marL="0">
              <a:buNone/>
            </a:pPr>
            <a:r>
              <a:rPr lang="en-US" sz="2000" b="1" dirty="0">
                <a:solidFill>
                  <a:srgbClr val="171B1F"/>
                </a:solidFill>
                <a:latin typeface="Consolas" pitchFamily="34" charset="0"/>
                <a:ea typeface="Consolas" pitchFamily="34" charset="-122"/>
                <a:cs typeface="Consolas" pitchFamily="34" charset="-120"/>
              </a:rPr>
              <a:t>.env</a:t>
            </a:r>
            <a:endParaRPr lang="en-US" sz="2000" dirty="0"/>
          </a:p>
        </p:txBody>
      </p:sp>
      <p:sp>
        <p:nvSpPr>
          <p:cNvPr id="9" name="Text 7"/>
          <p:cNvSpPr/>
          <p:nvPr/>
        </p:nvSpPr>
        <p:spPr>
          <a:xfrm>
            <a:off x="1078992" y="3246120"/>
            <a:ext cx="3200400" cy="676656"/>
          </a:xfrm>
          <a:prstGeom prst="rect">
            <a:avLst/>
          </a:prstGeom>
          <a:noFill/>
          <a:ln/>
        </p:spPr>
        <p:txBody>
          <a:bodyPr wrap="square" lIns="0" tIns="0" rIns="0" bIns="0" rtlCol="0" anchor="t"/>
          <a:lstStyle/>
          <a:p>
            <a:pPr indent="0" marL="0">
              <a:buNone/>
            </a:pPr>
            <a:r>
              <a:rPr lang="en-US" sz="1400" dirty="0">
                <a:solidFill>
                  <a:srgbClr val="171B1F"/>
                </a:solidFill>
                <a:latin typeface="Consolas" pitchFamily="34" charset="0"/>
                <a:ea typeface="Consolas" pitchFamily="34" charset="-122"/>
                <a:cs typeface="Consolas" pitchFamily="34" charset="-120"/>
              </a:rPr>
              <a:t>BRAIN_BOT_TOKEN=...</a:t>
            </a:r>
            <a:endParaRPr lang="en-US" sz="1400" dirty="0"/>
          </a:p>
          <a:p>
            <a:pPr indent="0" marL="0">
              <a:buNone/>
            </a:pPr>
            <a:r>
              <a:rPr lang="en-US" sz="1400" dirty="0">
                <a:solidFill>
                  <a:srgbClr val="171B1F"/>
                </a:solidFill>
                <a:latin typeface="Consolas" pitchFamily="34" charset="0"/>
                <a:ea typeface="Consolas" pitchFamily="34" charset="-122"/>
                <a:cs typeface="Consolas" pitchFamily="34" charset="-120"/>
              </a:rPr>
              <a:t>BRAIN_OWNER_ID=...</a:t>
            </a:r>
            <a:endParaRPr lang="en-US" sz="1400" dirty="0"/>
          </a:p>
        </p:txBody>
      </p:sp>
      <p:sp>
        <p:nvSpPr>
          <p:cNvPr id="10" name="Shape 8"/>
          <p:cNvSpPr/>
          <p:nvPr/>
        </p:nvSpPr>
        <p:spPr>
          <a:xfrm>
            <a:off x="3986784" y="3474720"/>
            <a:ext cx="658368" cy="0"/>
          </a:xfrm>
          <a:prstGeom prst="line">
            <a:avLst/>
          </a:prstGeom>
          <a:noFill/>
          <a:ln w="31750">
            <a:solidFill>
              <a:srgbClr val="C83F49"/>
            </a:solidFill>
            <a:prstDash val="dash"/>
            <a:tailEnd type="triangle"/>
          </a:ln>
        </p:spPr>
      </p:sp>
      <p:sp>
        <p:nvSpPr>
          <p:cNvPr id="11" name="Text 9"/>
          <p:cNvSpPr/>
          <p:nvPr/>
        </p:nvSpPr>
        <p:spPr>
          <a:xfrm>
            <a:off x="3730752" y="3968496"/>
            <a:ext cx="1152144" cy="274320"/>
          </a:xfrm>
          <a:prstGeom prst="rect">
            <a:avLst/>
          </a:prstGeom>
          <a:noFill/>
          <a:ln/>
        </p:spPr>
        <p:txBody>
          <a:bodyPr wrap="square" lIns="0" tIns="0" rIns="0" bIns="0" rtlCol="0" anchor="ctr"/>
          <a:lstStyle/>
          <a:p>
            <a:pPr algn="ctr" indent="0" marL="0">
              <a:buNone/>
            </a:pPr>
            <a:r>
              <a:rPr lang="en-US" sz="1100" b="1" dirty="0">
                <a:solidFill>
                  <a:srgbClr val="C83F49"/>
                </a:solidFill>
                <a:latin typeface="Aptos" pitchFamily="34" charset="0"/>
                <a:ea typeface="Aptos" pitchFamily="34" charset="-122"/>
                <a:cs typeface="Aptos" pitchFamily="34" charset="-120"/>
              </a:rPr>
              <a:t>not mapped</a:t>
            </a:r>
            <a:endParaRPr lang="en-US" sz="1100" dirty="0"/>
          </a:p>
        </p:txBody>
      </p:sp>
      <p:sp>
        <p:nvSpPr>
          <p:cNvPr id="12" name="Text 10"/>
          <p:cNvSpPr/>
          <p:nvPr/>
        </p:nvSpPr>
        <p:spPr>
          <a:xfrm>
            <a:off x="4846320" y="3328416"/>
            <a:ext cx="475488" cy="320040"/>
          </a:xfrm>
          <a:prstGeom prst="rect">
            <a:avLst/>
          </a:prstGeom>
          <a:noFill/>
          <a:ln/>
        </p:spPr>
        <p:txBody>
          <a:bodyPr wrap="square" lIns="0" tIns="0" rIns="0" bIns="0" rtlCol="0" anchor="ctr"/>
          <a:lstStyle/>
          <a:p>
            <a:pPr indent="0" marL="0">
              <a:buNone/>
            </a:pPr>
            <a:r>
              <a:rPr lang="en-US" sz="1600" b="1" dirty="0">
                <a:solidFill>
                  <a:srgbClr val="171B1F"/>
                </a:solidFill>
                <a:latin typeface="Aptos" pitchFamily="34" charset="0"/>
                <a:ea typeface="Aptos" pitchFamily="34" charset="-122"/>
                <a:cs typeface="Aptos" pitchFamily="34" charset="-120"/>
              </a:rPr>
              <a:t>n8n</a:t>
            </a:r>
            <a:endParaRPr lang="en-US" sz="1600" dirty="0"/>
          </a:p>
        </p:txBody>
      </p:sp>
      <p:sp>
        <p:nvSpPr>
          <p:cNvPr id="13" name="Text 11"/>
          <p:cNvSpPr/>
          <p:nvPr/>
        </p:nvSpPr>
        <p:spPr>
          <a:xfrm>
            <a:off x="6437376" y="1956816"/>
            <a:ext cx="1828800" cy="329184"/>
          </a:xfrm>
          <a:prstGeom prst="rect">
            <a:avLst/>
          </a:prstGeom>
          <a:noFill/>
          <a:ln/>
        </p:spPr>
        <p:txBody>
          <a:bodyPr wrap="square" lIns="0" tIns="0" rIns="0" bIns="0" rtlCol="0" anchor="ctr"/>
          <a:lstStyle/>
          <a:p>
            <a:pPr indent="0" marL="0">
              <a:buNone/>
            </a:pPr>
            <a:r>
              <a:rPr lang="en-US" sz="1300" b="1" spc="120" kern="0" dirty="0">
                <a:solidFill>
                  <a:srgbClr val="2EA76F"/>
                </a:solidFill>
                <a:latin typeface="Aptos" pitchFamily="34" charset="0"/>
                <a:ea typeface="Aptos" pitchFamily="34" charset="-122"/>
                <a:cs typeface="Aptos" pitchFamily="34" charset="-120"/>
              </a:rPr>
              <a:t>AFTER</a:t>
            </a:r>
            <a:endParaRPr lang="en-US" sz="1300" dirty="0"/>
          </a:p>
        </p:txBody>
      </p:sp>
      <p:sp>
        <p:nvSpPr>
          <p:cNvPr id="14" name="Shape 12"/>
          <p:cNvSpPr/>
          <p:nvPr/>
        </p:nvSpPr>
        <p:spPr>
          <a:xfrm>
            <a:off x="6437376" y="2395728"/>
            <a:ext cx="4919472" cy="2331720"/>
          </a:xfrm>
          <a:prstGeom prst="rect">
            <a:avLst/>
          </a:prstGeom>
          <a:solidFill>
            <a:srgbClr val="DFF3E9"/>
          </a:solidFill>
          <a:ln w="12700">
            <a:solidFill>
              <a:srgbClr val="DFF3E9"/>
            </a:solidFill>
            <a:prstDash val="solid"/>
          </a:ln>
        </p:spPr>
      </p:sp>
      <p:sp>
        <p:nvSpPr>
          <p:cNvPr id="15" name="Text 13"/>
          <p:cNvSpPr/>
          <p:nvPr/>
        </p:nvSpPr>
        <p:spPr>
          <a:xfrm>
            <a:off x="6766560" y="2670048"/>
            <a:ext cx="1993392" cy="329184"/>
          </a:xfrm>
          <a:prstGeom prst="rect">
            <a:avLst/>
          </a:prstGeom>
          <a:noFill/>
          <a:ln/>
        </p:spPr>
        <p:txBody>
          <a:bodyPr wrap="square" lIns="0" tIns="0" rIns="0" bIns="0" rtlCol="0" anchor="ctr"/>
          <a:lstStyle/>
          <a:p>
            <a:pPr indent="0" marL="0">
              <a:buNone/>
            </a:pPr>
            <a:r>
              <a:rPr lang="en-US" sz="1700" b="1" dirty="0">
                <a:solidFill>
                  <a:srgbClr val="171B1F"/>
                </a:solidFill>
                <a:latin typeface="Consolas" pitchFamily="34" charset="0"/>
                <a:ea typeface="Consolas" pitchFamily="34" charset="-122"/>
                <a:cs typeface="Consolas" pitchFamily="34" charset="-120"/>
              </a:rPr>
              <a:t>private env_file</a:t>
            </a:r>
            <a:endParaRPr lang="en-US" sz="1700" dirty="0"/>
          </a:p>
        </p:txBody>
      </p:sp>
      <p:sp>
        <p:nvSpPr>
          <p:cNvPr id="16" name="Shape 14"/>
          <p:cNvSpPr/>
          <p:nvPr/>
        </p:nvSpPr>
        <p:spPr>
          <a:xfrm>
            <a:off x="8860536" y="3474720"/>
            <a:ext cx="731520" cy="0"/>
          </a:xfrm>
          <a:prstGeom prst="line">
            <a:avLst/>
          </a:prstGeom>
          <a:noFill/>
          <a:ln w="31750">
            <a:solidFill>
              <a:srgbClr val="2EA76F"/>
            </a:solidFill>
            <a:prstDash val="solid"/>
            <a:tailEnd type="triangle"/>
          </a:ln>
        </p:spPr>
      </p:sp>
      <p:sp>
        <p:nvSpPr>
          <p:cNvPr id="17" name="Text 15"/>
          <p:cNvSpPr/>
          <p:nvPr/>
        </p:nvSpPr>
        <p:spPr>
          <a:xfrm>
            <a:off x="8668512" y="3968496"/>
            <a:ext cx="1143000" cy="274320"/>
          </a:xfrm>
          <a:prstGeom prst="rect">
            <a:avLst/>
          </a:prstGeom>
          <a:noFill/>
          <a:ln/>
        </p:spPr>
        <p:txBody>
          <a:bodyPr wrap="square" lIns="0" tIns="0" rIns="0" bIns="0" rtlCol="0" anchor="ctr"/>
          <a:lstStyle/>
          <a:p>
            <a:pPr algn="ctr" indent="0" marL="0">
              <a:buNone/>
            </a:pPr>
            <a:r>
              <a:rPr lang="en-US" sz="1100" b="1" dirty="0">
                <a:solidFill>
                  <a:srgbClr val="2EA76F"/>
                </a:solidFill>
                <a:latin typeface="Aptos" pitchFamily="34" charset="0"/>
                <a:ea typeface="Aptos" pitchFamily="34" charset="-122"/>
                <a:cs typeface="Aptos" pitchFamily="34" charset="-120"/>
              </a:rPr>
              <a:t>Compose override</a:t>
            </a:r>
            <a:endParaRPr lang="en-US" sz="1100" dirty="0"/>
          </a:p>
        </p:txBody>
      </p:sp>
      <p:sp>
        <p:nvSpPr>
          <p:cNvPr id="18" name="Text 16"/>
          <p:cNvSpPr/>
          <p:nvPr/>
        </p:nvSpPr>
        <p:spPr>
          <a:xfrm>
            <a:off x="9912096" y="3328416"/>
            <a:ext cx="475488" cy="320040"/>
          </a:xfrm>
          <a:prstGeom prst="rect">
            <a:avLst/>
          </a:prstGeom>
          <a:noFill/>
          <a:ln/>
        </p:spPr>
        <p:txBody>
          <a:bodyPr wrap="square" lIns="0" tIns="0" rIns="0" bIns="0" rtlCol="0" anchor="ctr"/>
          <a:lstStyle/>
          <a:p>
            <a:pPr indent="0" marL="0">
              <a:buNone/>
            </a:pPr>
            <a:r>
              <a:rPr lang="en-US" sz="1600" b="1" dirty="0">
                <a:solidFill>
                  <a:srgbClr val="171B1F"/>
                </a:solidFill>
                <a:latin typeface="Aptos" pitchFamily="34" charset="0"/>
                <a:ea typeface="Aptos" pitchFamily="34" charset="-122"/>
                <a:cs typeface="Aptos" pitchFamily="34" charset="-120"/>
              </a:rPr>
              <a:t>n8n</a:t>
            </a:r>
            <a:endParaRPr lang="en-US" sz="1600" dirty="0"/>
          </a:p>
        </p:txBody>
      </p:sp>
      <p:sp>
        <p:nvSpPr>
          <p:cNvPr id="19" name="Shape 17"/>
          <p:cNvSpPr/>
          <p:nvPr/>
        </p:nvSpPr>
        <p:spPr>
          <a:xfrm>
            <a:off x="6547104" y="5084064"/>
            <a:ext cx="4572000" cy="512064"/>
          </a:xfrm>
          <a:prstGeom prst="roundRect">
            <a:avLst/>
          </a:prstGeom>
          <a:solidFill>
            <a:srgbClr val="171B1F"/>
          </a:solidFill>
          <a:ln w="12700">
            <a:solidFill>
              <a:srgbClr val="171B1F"/>
            </a:solidFill>
            <a:prstDash val="solid"/>
          </a:ln>
        </p:spPr>
      </p:sp>
      <p:sp>
        <p:nvSpPr>
          <p:cNvPr id="20" name="Text 18"/>
          <p:cNvSpPr/>
          <p:nvPr/>
        </p:nvSpPr>
        <p:spPr>
          <a:xfrm>
            <a:off x="6693408" y="5175504"/>
            <a:ext cx="4279392"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onsolas" pitchFamily="34" charset="0"/>
                <a:ea typeface="Consolas" pitchFamily="34" charset="-122"/>
                <a:cs typeface="Consolas" pitchFamily="34" charset="-120"/>
              </a:rPr>
              <a:t>docker compose up -d --force-recreate n8n</a:t>
            </a:r>
            <a:endParaRPr lang="en-US" sz="12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08</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WEBHOOK LIFECYCLE</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409 is temporary</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Telegram supports one delivery mode at a time: webhook or getUpdates polling.</a:t>
            </a:r>
            <a:endParaRPr lang="en-US" sz="1450" dirty="0"/>
          </a:p>
        </p:txBody>
      </p:sp>
      <p:sp>
        <p:nvSpPr>
          <p:cNvPr id="6" name="Shape 4"/>
          <p:cNvSpPr/>
          <p:nvPr/>
        </p:nvSpPr>
        <p:spPr>
          <a:xfrm>
            <a:off x="777240" y="2029968"/>
            <a:ext cx="2926080" cy="2286000"/>
          </a:xfrm>
          <a:prstGeom prst="roundRect">
            <a:avLst/>
          </a:prstGeom>
          <a:solidFill>
            <a:srgbClr val="DDF3FC"/>
          </a:solidFill>
          <a:ln w="12700">
            <a:solidFill>
              <a:srgbClr val="229ED9"/>
            </a:solidFill>
            <a:prstDash val="solid"/>
          </a:ln>
        </p:spPr>
      </p:sp>
      <p:sp>
        <p:nvSpPr>
          <p:cNvPr id="7" name="Text 5"/>
          <p:cNvSpPr/>
          <p:nvPr/>
        </p:nvSpPr>
        <p:spPr>
          <a:xfrm>
            <a:off x="1152144" y="2468880"/>
            <a:ext cx="2176272" cy="384048"/>
          </a:xfrm>
          <a:prstGeom prst="rect">
            <a:avLst/>
          </a:prstGeom>
          <a:noFill/>
          <a:ln/>
        </p:spPr>
        <p:txBody>
          <a:bodyPr wrap="square" lIns="0" tIns="0" rIns="0" bIns="0" rtlCol="0" anchor="ctr"/>
          <a:lstStyle/>
          <a:p>
            <a:pPr algn="ctr" indent="0" marL="0">
              <a:buNone/>
            </a:pPr>
            <a:r>
              <a:rPr lang="en-US" sz="2400" b="1" dirty="0">
                <a:solidFill>
                  <a:srgbClr val="229ED9"/>
                </a:solidFill>
                <a:latin typeface="Aptos" pitchFamily="34" charset="0"/>
                <a:ea typeface="Aptos" pitchFamily="34" charset="-122"/>
                <a:cs typeface="Aptos" pitchFamily="34" charset="-120"/>
              </a:rPr>
              <a:t>POLLING</a:t>
            </a:r>
            <a:endParaRPr lang="en-US" sz="2400" dirty="0"/>
          </a:p>
        </p:txBody>
      </p:sp>
      <p:sp>
        <p:nvSpPr>
          <p:cNvPr id="8" name="Text 6"/>
          <p:cNvSpPr/>
          <p:nvPr/>
        </p:nvSpPr>
        <p:spPr>
          <a:xfrm>
            <a:off x="1152144" y="3127248"/>
            <a:ext cx="2176272" cy="310896"/>
          </a:xfrm>
          <a:prstGeom prst="rect">
            <a:avLst/>
          </a:prstGeom>
          <a:noFill/>
          <a:ln/>
        </p:spPr>
        <p:txBody>
          <a:bodyPr wrap="square" lIns="0" tIns="0" rIns="0" bIns="0" rtlCol="0" anchor="ctr"/>
          <a:lstStyle/>
          <a:p>
            <a:pPr algn="ctr" indent="0" marL="0">
              <a:buNone/>
            </a:pPr>
            <a:r>
              <a:rPr lang="en-US" sz="1600" dirty="0">
                <a:solidFill>
                  <a:srgbClr val="171B1F"/>
                </a:solidFill>
                <a:latin typeface="Consolas" pitchFamily="34" charset="0"/>
                <a:ea typeface="Consolas" pitchFamily="34" charset="-122"/>
                <a:cs typeface="Consolas" pitchFamily="34" charset="-120"/>
              </a:rPr>
              <a:t>getUpdates</a:t>
            </a:r>
            <a:endParaRPr lang="en-US" sz="1600" dirty="0"/>
          </a:p>
        </p:txBody>
      </p:sp>
      <p:sp>
        <p:nvSpPr>
          <p:cNvPr id="9" name="Text 7"/>
          <p:cNvSpPr/>
          <p:nvPr/>
        </p:nvSpPr>
        <p:spPr>
          <a:xfrm>
            <a:off x="1133856" y="3657600"/>
            <a:ext cx="2212848" cy="292608"/>
          </a:xfrm>
          <a:prstGeom prst="rect">
            <a:avLst/>
          </a:prstGeom>
          <a:noFill/>
          <a:ln/>
        </p:spPr>
        <p:txBody>
          <a:bodyPr wrap="square" lIns="0" tIns="0" rIns="0" bIns="0" rtlCol="0" anchor="ctr"/>
          <a:lstStyle/>
          <a:p>
            <a:pPr algn="ctr" indent="0" marL="0">
              <a:buNone/>
            </a:pPr>
            <a:r>
              <a:rPr lang="en-US" sz="1200" dirty="0">
                <a:solidFill>
                  <a:srgbClr val="6F736F"/>
                </a:solidFill>
                <a:latin typeface="Aptos" pitchFamily="34" charset="0"/>
                <a:ea typeface="Aptos" pitchFamily="34" charset="-122"/>
                <a:cs typeface="Aptos" pitchFamily="34" charset="-120"/>
              </a:rPr>
              <a:t>works when no webhook is set</a:t>
            </a:r>
            <a:endParaRPr lang="en-US" sz="1200" dirty="0"/>
          </a:p>
        </p:txBody>
      </p:sp>
      <p:sp>
        <p:nvSpPr>
          <p:cNvPr id="10" name="Shape 8"/>
          <p:cNvSpPr/>
          <p:nvPr/>
        </p:nvSpPr>
        <p:spPr>
          <a:xfrm>
            <a:off x="8449056" y="2029968"/>
            <a:ext cx="2926080" cy="2286000"/>
          </a:xfrm>
          <a:prstGeom prst="roundRect">
            <a:avLst/>
          </a:prstGeom>
          <a:solidFill>
            <a:srgbClr val="DFF3E9"/>
          </a:solidFill>
          <a:ln w="12700">
            <a:solidFill>
              <a:srgbClr val="2EA76F"/>
            </a:solidFill>
            <a:prstDash val="solid"/>
          </a:ln>
        </p:spPr>
      </p:sp>
      <p:sp>
        <p:nvSpPr>
          <p:cNvPr id="11" name="Text 9"/>
          <p:cNvSpPr/>
          <p:nvPr/>
        </p:nvSpPr>
        <p:spPr>
          <a:xfrm>
            <a:off x="8823960" y="2468880"/>
            <a:ext cx="2176272" cy="384048"/>
          </a:xfrm>
          <a:prstGeom prst="rect">
            <a:avLst/>
          </a:prstGeom>
          <a:noFill/>
          <a:ln/>
        </p:spPr>
        <p:txBody>
          <a:bodyPr wrap="square" lIns="0" tIns="0" rIns="0" bIns="0" rtlCol="0" anchor="ctr"/>
          <a:lstStyle/>
          <a:p>
            <a:pPr algn="ctr" indent="0" marL="0">
              <a:buNone/>
            </a:pPr>
            <a:r>
              <a:rPr lang="en-US" sz="2400" b="1" dirty="0">
                <a:solidFill>
                  <a:srgbClr val="2EA76F"/>
                </a:solidFill>
                <a:latin typeface="Aptos" pitchFamily="34" charset="0"/>
                <a:ea typeface="Aptos" pitchFamily="34" charset="-122"/>
                <a:cs typeface="Aptos" pitchFamily="34" charset="-120"/>
              </a:rPr>
              <a:t>WEBHOOK</a:t>
            </a:r>
            <a:endParaRPr lang="en-US" sz="2400" dirty="0"/>
          </a:p>
        </p:txBody>
      </p:sp>
      <p:sp>
        <p:nvSpPr>
          <p:cNvPr id="12" name="Text 10"/>
          <p:cNvSpPr/>
          <p:nvPr/>
        </p:nvSpPr>
        <p:spPr>
          <a:xfrm>
            <a:off x="8823960" y="3127248"/>
            <a:ext cx="2176272" cy="310896"/>
          </a:xfrm>
          <a:prstGeom prst="rect">
            <a:avLst/>
          </a:prstGeom>
          <a:noFill/>
          <a:ln/>
        </p:spPr>
        <p:txBody>
          <a:bodyPr wrap="square" lIns="0" tIns="0" rIns="0" bIns="0" rtlCol="0" anchor="ctr"/>
          <a:lstStyle/>
          <a:p>
            <a:pPr algn="ctr" indent="0" marL="0">
              <a:buNone/>
            </a:pPr>
            <a:r>
              <a:rPr lang="en-US" sz="1500" dirty="0">
                <a:solidFill>
                  <a:srgbClr val="171B1F"/>
                </a:solidFill>
                <a:latin typeface="Consolas" pitchFamily="34" charset="0"/>
                <a:ea typeface="Consolas" pitchFamily="34" charset="-122"/>
                <a:cs typeface="Consolas" pitchFamily="34" charset="-120"/>
              </a:rPr>
              <a:t>Telegram Trigger</a:t>
            </a:r>
            <a:endParaRPr lang="en-US" sz="1500" dirty="0"/>
          </a:p>
        </p:txBody>
      </p:sp>
      <p:sp>
        <p:nvSpPr>
          <p:cNvPr id="13" name="Text 11"/>
          <p:cNvSpPr/>
          <p:nvPr/>
        </p:nvSpPr>
        <p:spPr>
          <a:xfrm>
            <a:off x="8823960" y="3657600"/>
            <a:ext cx="2176272" cy="292608"/>
          </a:xfrm>
          <a:prstGeom prst="rect">
            <a:avLst/>
          </a:prstGeom>
          <a:noFill/>
          <a:ln/>
        </p:spPr>
        <p:txBody>
          <a:bodyPr wrap="square" lIns="0" tIns="0" rIns="0" bIns="0" rtlCol="0" anchor="ctr"/>
          <a:lstStyle/>
          <a:p>
            <a:pPr algn="ctr" indent="0" marL="0">
              <a:buNone/>
            </a:pPr>
            <a:r>
              <a:rPr lang="en-US" sz="1200" dirty="0">
                <a:solidFill>
                  <a:srgbClr val="6F736F"/>
                </a:solidFill>
                <a:latin typeface="Aptos" pitchFamily="34" charset="0"/>
                <a:ea typeface="Aptos" pitchFamily="34" charset="-122"/>
                <a:cs typeface="Aptos" pitchFamily="34" charset="-120"/>
              </a:rPr>
              <a:t>needs public HTTPS</a:t>
            </a:r>
            <a:endParaRPr lang="en-US" sz="1200" dirty="0"/>
          </a:p>
        </p:txBody>
      </p:sp>
      <p:sp>
        <p:nvSpPr>
          <p:cNvPr id="14" name="Shape 12"/>
          <p:cNvSpPr/>
          <p:nvPr/>
        </p:nvSpPr>
        <p:spPr>
          <a:xfrm>
            <a:off x="3959352" y="2697480"/>
            <a:ext cx="4160520" cy="0"/>
          </a:xfrm>
          <a:prstGeom prst="line">
            <a:avLst/>
          </a:prstGeom>
          <a:noFill/>
          <a:ln w="31750">
            <a:solidFill>
              <a:srgbClr val="2EA76F"/>
            </a:solidFill>
            <a:prstDash val="solid"/>
            <a:tailEnd type="triangle"/>
          </a:ln>
        </p:spPr>
      </p:sp>
      <p:sp>
        <p:nvSpPr>
          <p:cNvPr id="15" name="Text 13"/>
          <p:cNvSpPr/>
          <p:nvPr/>
        </p:nvSpPr>
        <p:spPr>
          <a:xfrm>
            <a:off x="4800600" y="2221992"/>
            <a:ext cx="2514600" cy="310896"/>
          </a:xfrm>
          <a:prstGeom prst="rect">
            <a:avLst/>
          </a:prstGeom>
          <a:noFill/>
          <a:ln/>
        </p:spPr>
        <p:txBody>
          <a:bodyPr wrap="square" lIns="0" tIns="0" rIns="0" bIns="0" rtlCol="0" anchor="ctr"/>
          <a:lstStyle/>
          <a:p>
            <a:pPr algn="ctr" indent="0" marL="0">
              <a:buNone/>
            </a:pPr>
            <a:r>
              <a:rPr lang="en-US" sz="1300" b="1" dirty="0">
                <a:solidFill>
                  <a:srgbClr val="2EA76F"/>
                </a:solidFill>
                <a:latin typeface="Aptos" pitchFamily="34" charset="0"/>
                <a:ea typeface="Aptos" pitchFamily="34" charset="-122"/>
                <a:cs typeface="Aptos" pitchFamily="34" charset="-120"/>
              </a:rPr>
              <a:t>activate -&gt; setWebhook</a:t>
            </a:r>
            <a:endParaRPr lang="en-US" sz="1300" dirty="0"/>
          </a:p>
        </p:txBody>
      </p:sp>
      <p:sp>
        <p:nvSpPr>
          <p:cNvPr id="16" name="Shape 14"/>
          <p:cNvSpPr/>
          <p:nvPr/>
        </p:nvSpPr>
        <p:spPr>
          <a:xfrm>
            <a:off x="3950208" y="3794760"/>
            <a:ext cx="4160520" cy="0"/>
          </a:xfrm>
          <a:prstGeom prst="line">
            <a:avLst/>
          </a:prstGeom>
          <a:noFill/>
          <a:ln w="31750">
            <a:solidFill>
              <a:srgbClr val="FF6B57"/>
            </a:solidFill>
            <a:prstDash val="solid"/>
            <a:headEnd type="triangle"/>
          </a:ln>
        </p:spPr>
      </p:sp>
      <p:sp>
        <p:nvSpPr>
          <p:cNvPr id="17" name="Text 15"/>
          <p:cNvSpPr/>
          <p:nvPr/>
        </p:nvSpPr>
        <p:spPr>
          <a:xfrm>
            <a:off x="4617720" y="4078224"/>
            <a:ext cx="2971800" cy="310896"/>
          </a:xfrm>
          <a:prstGeom prst="rect">
            <a:avLst/>
          </a:prstGeom>
          <a:noFill/>
          <a:ln/>
        </p:spPr>
        <p:txBody>
          <a:bodyPr wrap="square" lIns="0" tIns="0" rIns="0" bIns="0" rtlCol="0" anchor="ctr"/>
          <a:lstStyle/>
          <a:p>
            <a:pPr algn="ctr" indent="0" marL="0">
              <a:buNone/>
            </a:pPr>
            <a:r>
              <a:rPr lang="en-US" sz="1300" b="1" dirty="0">
                <a:solidFill>
                  <a:srgbClr val="C83F49"/>
                </a:solidFill>
                <a:latin typeface="Aptos" pitchFamily="34" charset="0"/>
                <a:ea typeface="Aptos" pitchFamily="34" charset="-122"/>
                <a:cs typeface="Aptos" pitchFamily="34" charset="-120"/>
              </a:rPr>
              <a:t>deactivate / deleteWebhook</a:t>
            </a:r>
            <a:endParaRPr lang="en-US" sz="1300" dirty="0"/>
          </a:p>
        </p:txBody>
      </p:sp>
      <p:sp>
        <p:nvSpPr>
          <p:cNvPr id="18" name="Shape 16"/>
          <p:cNvSpPr/>
          <p:nvPr/>
        </p:nvSpPr>
        <p:spPr>
          <a:xfrm>
            <a:off x="3419856" y="4992624"/>
            <a:ext cx="5349240" cy="658368"/>
          </a:xfrm>
          <a:prstGeom prst="rect">
            <a:avLst/>
          </a:prstGeom>
          <a:solidFill>
            <a:srgbClr val="FFF0C8"/>
          </a:solidFill>
          <a:ln w="12700">
            <a:solidFill>
              <a:srgbClr val="FFF0C8"/>
            </a:solidFill>
            <a:prstDash val="solid"/>
          </a:ln>
        </p:spPr>
      </p:sp>
      <p:sp>
        <p:nvSpPr>
          <p:cNvPr id="19" name="Text 17"/>
          <p:cNvSpPr/>
          <p:nvPr/>
        </p:nvSpPr>
        <p:spPr>
          <a:xfrm>
            <a:off x="3694176" y="5138928"/>
            <a:ext cx="4800600" cy="329184"/>
          </a:xfrm>
          <a:prstGeom prst="rect">
            <a:avLst/>
          </a:prstGeom>
          <a:noFill/>
          <a:ln/>
        </p:spPr>
        <p:txBody>
          <a:bodyPr wrap="square" lIns="0" tIns="0" rIns="0" bIns="0" rtlCol="0" anchor="ctr"/>
          <a:lstStyle/>
          <a:p>
            <a:pPr algn="ctr" indent="0" marL="0">
              <a:buNone/>
            </a:pPr>
            <a:r>
              <a:rPr lang="en-US" sz="1400" b="1" dirty="0">
                <a:solidFill>
                  <a:srgbClr val="171B1F"/>
                </a:solidFill>
                <a:latin typeface="Aptos" pitchFamily="34" charset="0"/>
                <a:ea typeface="Aptos" pitchFamily="34" charset="-122"/>
                <a:cs typeface="Aptos" pitchFamily="34" charset="-120"/>
              </a:rPr>
              <a:t>409 means: polling attempted while the webhook is active</a:t>
            </a:r>
            <a:endParaRPr lang="en-US" sz="140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09</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N8N</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Create the credential on a shared screen, safely</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The Access Token field is a password field. The terminal, BotFather and the reveal icon stay off screen.</a:t>
            </a:r>
            <a:endParaRPr lang="en-US" sz="1450" dirty="0"/>
          </a:p>
        </p:txBody>
      </p:sp>
      <p:sp>
        <p:nvSpPr>
          <p:cNvPr id="6" name="Shape 4"/>
          <p:cNvSpPr/>
          <p:nvPr/>
        </p:nvSpPr>
        <p:spPr>
          <a:xfrm>
            <a:off x="768096" y="1920240"/>
            <a:ext cx="7406640" cy="3886200"/>
          </a:xfrm>
          <a:prstGeom prst="roundRect">
            <a:avLst/>
          </a:prstGeom>
          <a:solidFill>
            <a:srgbClr val="FFFFFF"/>
          </a:solidFill>
          <a:ln w="12700">
            <a:solidFill>
              <a:srgbClr val="D8D4CC"/>
            </a:solidFill>
            <a:prstDash val="solid"/>
          </a:ln>
        </p:spPr>
      </p:sp>
      <p:sp>
        <p:nvSpPr>
          <p:cNvPr id="7" name="Shape 5"/>
          <p:cNvSpPr/>
          <p:nvPr/>
        </p:nvSpPr>
        <p:spPr>
          <a:xfrm>
            <a:off x="768096" y="1920240"/>
            <a:ext cx="7406640" cy="438912"/>
          </a:xfrm>
          <a:prstGeom prst="rect">
            <a:avLst/>
          </a:prstGeom>
          <a:solidFill>
            <a:srgbClr val="171B1F"/>
          </a:solidFill>
          <a:ln w="12700">
            <a:solidFill>
              <a:srgbClr val="171B1F"/>
            </a:solidFill>
            <a:prstDash val="solid"/>
          </a:ln>
        </p:spPr>
      </p:sp>
      <p:sp>
        <p:nvSpPr>
          <p:cNvPr id="8" name="Shape 6"/>
          <p:cNvSpPr/>
          <p:nvPr/>
        </p:nvSpPr>
        <p:spPr>
          <a:xfrm>
            <a:off x="914400" y="2066544"/>
            <a:ext cx="109728" cy="109728"/>
          </a:xfrm>
          <a:prstGeom prst="ellipse">
            <a:avLst/>
          </a:prstGeom>
          <a:solidFill>
            <a:srgbClr val="FF6B57"/>
          </a:solidFill>
          <a:ln w="12700">
            <a:solidFill>
              <a:srgbClr val="FF6B57"/>
            </a:solidFill>
            <a:prstDash val="solid"/>
          </a:ln>
        </p:spPr>
      </p:sp>
      <p:sp>
        <p:nvSpPr>
          <p:cNvPr id="9" name="Shape 7"/>
          <p:cNvSpPr/>
          <p:nvPr/>
        </p:nvSpPr>
        <p:spPr>
          <a:xfrm>
            <a:off x="1078992" y="2066544"/>
            <a:ext cx="109728" cy="109728"/>
          </a:xfrm>
          <a:prstGeom prst="ellipse">
            <a:avLst/>
          </a:prstGeom>
          <a:solidFill>
            <a:srgbClr val="E8B84A"/>
          </a:solidFill>
          <a:ln w="12700">
            <a:solidFill>
              <a:srgbClr val="E8B84A"/>
            </a:solidFill>
            <a:prstDash val="solid"/>
          </a:ln>
        </p:spPr>
      </p:sp>
      <p:sp>
        <p:nvSpPr>
          <p:cNvPr id="10" name="Shape 8"/>
          <p:cNvSpPr/>
          <p:nvPr/>
        </p:nvSpPr>
        <p:spPr>
          <a:xfrm>
            <a:off x="1243584" y="2066544"/>
            <a:ext cx="109728" cy="109728"/>
          </a:xfrm>
          <a:prstGeom prst="ellipse">
            <a:avLst/>
          </a:prstGeom>
          <a:solidFill>
            <a:srgbClr val="2EA76F"/>
          </a:solidFill>
          <a:ln w="12700">
            <a:solidFill>
              <a:srgbClr val="2EA76F"/>
            </a:solidFill>
            <a:prstDash val="solid"/>
          </a:ln>
        </p:spPr>
      </p:sp>
      <p:sp>
        <p:nvSpPr>
          <p:cNvPr id="11" name="Text 9"/>
          <p:cNvSpPr/>
          <p:nvPr/>
        </p:nvSpPr>
        <p:spPr>
          <a:xfrm>
            <a:off x="1481328" y="1984248"/>
            <a:ext cx="6510528" cy="274320"/>
          </a:xfrm>
          <a:prstGeom prst="rect">
            <a:avLst/>
          </a:prstGeom>
          <a:noFill/>
          <a:ln/>
        </p:spPr>
        <p:txBody>
          <a:bodyPr wrap="square" lIns="0" tIns="0" rIns="0" bIns="0" rtlCol="0" anchor="ctr"/>
          <a:lstStyle/>
          <a:p>
            <a:pPr indent="0" marL="0">
              <a:buNone/>
            </a:pPr>
            <a:r>
              <a:rPr lang="en-US" sz="1100" b="1" dirty="0">
                <a:solidFill>
                  <a:srgbClr val="FFFFFF"/>
                </a:solidFill>
                <a:latin typeface="Aptos" pitchFamily="34" charset="0"/>
                <a:ea typeface="Aptos" pitchFamily="34" charset="-122"/>
                <a:cs typeface="Aptos" pitchFamily="34" charset="-120"/>
              </a:rPr>
              <a:t>n8n - New credential (mock)</a:t>
            </a:r>
            <a:endParaRPr lang="en-US" sz="1100" dirty="0"/>
          </a:p>
        </p:txBody>
      </p:sp>
      <p:sp>
        <p:nvSpPr>
          <p:cNvPr id="12" name="Text 10"/>
          <p:cNvSpPr/>
          <p:nvPr/>
        </p:nvSpPr>
        <p:spPr>
          <a:xfrm>
            <a:off x="1115568" y="2651760"/>
            <a:ext cx="1600200" cy="256032"/>
          </a:xfrm>
          <a:prstGeom prst="rect">
            <a:avLst/>
          </a:prstGeom>
          <a:noFill/>
          <a:ln/>
        </p:spPr>
        <p:txBody>
          <a:bodyPr wrap="square" lIns="0" tIns="0" rIns="0" bIns="0" rtlCol="0" anchor="ctr"/>
          <a:lstStyle/>
          <a:p>
            <a:pPr indent="0" marL="0">
              <a:buNone/>
            </a:pPr>
            <a:r>
              <a:rPr lang="en-US" sz="1150" b="1" dirty="0">
                <a:solidFill>
                  <a:srgbClr val="6F736F"/>
                </a:solidFill>
                <a:latin typeface="Aptos" pitchFamily="34" charset="0"/>
                <a:ea typeface="Aptos" pitchFamily="34" charset="-122"/>
                <a:cs typeface="Aptos" pitchFamily="34" charset="-120"/>
              </a:rPr>
              <a:t>Credential type</a:t>
            </a:r>
            <a:endParaRPr lang="en-US" sz="1150" dirty="0"/>
          </a:p>
        </p:txBody>
      </p:sp>
      <p:sp>
        <p:nvSpPr>
          <p:cNvPr id="13" name="Shape 11"/>
          <p:cNvSpPr/>
          <p:nvPr/>
        </p:nvSpPr>
        <p:spPr>
          <a:xfrm>
            <a:off x="1115568" y="2971800"/>
            <a:ext cx="6355080" cy="512064"/>
          </a:xfrm>
          <a:prstGeom prst="rect">
            <a:avLst/>
          </a:prstGeom>
          <a:solidFill>
            <a:srgbClr val="F7F5F0"/>
          </a:solidFill>
          <a:ln w="12700">
            <a:solidFill>
              <a:srgbClr val="D8D4CC"/>
            </a:solidFill>
            <a:prstDash val="solid"/>
          </a:ln>
        </p:spPr>
      </p:sp>
      <p:sp>
        <p:nvSpPr>
          <p:cNvPr id="14" name="Text 12"/>
          <p:cNvSpPr/>
          <p:nvPr/>
        </p:nvSpPr>
        <p:spPr>
          <a:xfrm>
            <a:off x="1316736" y="3081528"/>
            <a:ext cx="5925312" cy="274320"/>
          </a:xfrm>
          <a:prstGeom prst="rect">
            <a:avLst/>
          </a:prstGeom>
          <a:noFill/>
          <a:ln/>
        </p:spPr>
        <p:txBody>
          <a:bodyPr wrap="square" lIns="0" tIns="0" rIns="0" bIns="0" rtlCol="0" anchor="ctr"/>
          <a:lstStyle/>
          <a:p>
            <a:pPr indent="0" marL="0">
              <a:buNone/>
            </a:pPr>
            <a:r>
              <a:rPr lang="en-US" sz="1400" dirty="0">
                <a:solidFill>
                  <a:srgbClr val="171B1F"/>
                </a:solidFill>
                <a:latin typeface="Aptos" pitchFamily="34" charset="0"/>
                <a:ea typeface="Aptos" pitchFamily="34" charset="-122"/>
                <a:cs typeface="Aptos" pitchFamily="34" charset="-120"/>
              </a:rPr>
              <a:t>Telegram API</a:t>
            </a:r>
            <a:endParaRPr lang="en-US" sz="1400" dirty="0"/>
          </a:p>
        </p:txBody>
      </p:sp>
      <p:sp>
        <p:nvSpPr>
          <p:cNvPr id="15" name="Text 13"/>
          <p:cNvSpPr/>
          <p:nvPr/>
        </p:nvSpPr>
        <p:spPr>
          <a:xfrm>
            <a:off x="1115568" y="3767328"/>
            <a:ext cx="1600200" cy="256032"/>
          </a:xfrm>
          <a:prstGeom prst="rect">
            <a:avLst/>
          </a:prstGeom>
          <a:noFill/>
          <a:ln/>
        </p:spPr>
        <p:txBody>
          <a:bodyPr wrap="square" lIns="0" tIns="0" rIns="0" bIns="0" rtlCol="0" anchor="ctr"/>
          <a:lstStyle/>
          <a:p>
            <a:pPr indent="0" marL="0">
              <a:buNone/>
            </a:pPr>
            <a:r>
              <a:rPr lang="en-US" sz="1150" b="1" dirty="0">
                <a:solidFill>
                  <a:srgbClr val="6F736F"/>
                </a:solidFill>
                <a:latin typeface="Aptos" pitchFamily="34" charset="0"/>
                <a:ea typeface="Aptos" pitchFamily="34" charset="-122"/>
                <a:cs typeface="Aptos" pitchFamily="34" charset="-120"/>
              </a:rPr>
              <a:t>Credential name</a:t>
            </a:r>
            <a:endParaRPr lang="en-US" sz="1150" dirty="0"/>
          </a:p>
        </p:txBody>
      </p:sp>
      <p:sp>
        <p:nvSpPr>
          <p:cNvPr id="16" name="Shape 14"/>
          <p:cNvSpPr/>
          <p:nvPr/>
        </p:nvSpPr>
        <p:spPr>
          <a:xfrm>
            <a:off x="1115568" y="4087368"/>
            <a:ext cx="6355080" cy="512064"/>
          </a:xfrm>
          <a:prstGeom prst="rect">
            <a:avLst/>
          </a:prstGeom>
          <a:solidFill>
            <a:srgbClr val="F7F5F0"/>
          </a:solidFill>
          <a:ln w="12700">
            <a:solidFill>
              <a:srgbClr val="D8D4CC"/>
            </a:solidFill>
            <a:prstDash val="solid"/>
          </a:ln>
        </p:spPr>
      </p:sp>
      <p:sp>
        <p:nvSpPr>
          <p:cNvPr id="17" name="Text 15"/>
          <p:cNvSpPr/>
          <p:nvPr/>
        </p:nvSpPr>
        <p:spPr>
          <a:xfrm>
            <a:off x="1316736" y="4197096"/>
            <a:ext cx="5925312" cy="274320"/>
          </a:xfrm>
          <a:prstGeom prst="rect">
            <a:avLst/>
          </a:prstGeom>
          <a:noFill/>
          <a:ln/>
        </p:spPr>
        <p:txBody>
          <a:bodyPr wrap="square" lIns="0" tIns="0" rIns="0" bIns="0" rtlCol="0" anchor="ctr"/>
          <a:lstStyle/>
          <a:p>
            <a:pPr indent="0" marL="0">
              <a:buNone/>
            </a:pPr>
            <a:r>
              <a:rPr lang="en-US" sz="1400" b="1" dirty="0">
                <a:solidFill>
                  <a:srgbClr val="171B1F"/>
                </a:solidFill>
                <a:latin typeface="Aptos" pitchFamily="34" charset="0"/>
                <a:ea typeface="Aptos" pitchFamily="34" charset="-122"/>
                <a:cs typeface="Aptos" pitchFamily="34" charset="-120"/>
              </a:rPr>
              <a:t>Brain Bot (Telegram)</a:t>
            </a:r>
            <a:endParaRPr lang="en-US" sz="1400" dirty="0"/>
          </a:p>
        </p:txBody>
      </p:sp>
      <p:sp>
        <p:nvSpPr>
          <p:cNvPr id="18" name="Text 16"/>
          <p:cNvSpPr/>
          <p:nvPr/>
        </p:nvSpPr>
        <p:spPr>
          <a:xfrm>
            <a:off x="1115568" y="4882896"/>
            <a:ext cx="1600200" cy="256032"/>
          </a:xfrm>
          <a:prstGeom prst="rect">
            <a:avLst/>
          </a:prstGeom>
          <a:noFill/>
          <a:ln/>
        </p:spPr>
        <p:txBody>
          <a:bodyPr wrap="square" lIns="0" tIns="0" rIns="0" bIns="0" rtlCol="0" anchor="ctr"/>
          <a:lstStyle/>
          <a:p>
            <a:pPr indent="0" marL="0">
              <a:buNone/>
            </a:pPr>
            <a:r>
              <a:rPr lang="en-US" sz="1150" b="1" dirty="0">
                <a:solidFill>
                  <a:srgbClr val="6F736F"/>
                </a:solidFill>
                <a:latin typeface="Aptos" pitchFamily="34" charset="0"/>
                <a:ea typeface="Aptos" pitchFamily="34" charset="-122"/>
                <a:cs typeface="Aptos" pitchFamily="34" charset="-120"/>
              </a:rPr>
              <a:t>Access Token</a:t>
            </a:r>
            <a:endParaRPr lang="en-US" sz="1150" dirty="0"/>
          </a:p>
        </p:txBody>
      </p:sp>
      <p:sp>
        <p:nvSpPr>
          <p:cNvPr id="19" name="Shape 17"/>
          <p:cNvSpPr/>
          <p:nvPr/>
        </p:nvSpPr>
        <p:spPr>
          <a:xfrm>
            <a:off x="1115568" y="5202936"/>
            <a:ext cx="4800600" cy="384048"/>
          </a:xfrm>
          <a:prstGeom prst="rect">
            <a:avLst/>
          </a:prstGeom>
          <a:solidFill>
            <a:srgbClr val="F7F5F0"/>
          </a:solidFill>
          <a:ln w="12700">
            <a:solidFill>
              <a:srgbClr val="D8D4CC"/>
            </a:solidFill>
            <a:prstDash val="solid"/>
          </a:ln>
        </p:spPr>
      </p:sp>
      <p:sp>
        <p:nvSpPr>
          <p:cNvPr id="20" name="Text 18"/>
          <p:cNvSpPr/>
          <p:nvPr/>
        </p:nvSpPr>
        <p:spPr>
          <a:xfrm>
            <a:off x="1316736" y="5257800"/>
            <a:ext cx="4389120" cy="256032"/>
          </a:xfrm>
          <a:prstGeom prst="rect">
            <a:avLst/>
          </a:prstGeom>
          <a:noFill/>
          <a:ln/>
        </p:spPr>
        <p:txBody>
          <a:bodyPr wrap="square" lIns="0" tIns="0" rIns="0" bIns="0" rtlCol="0" anchor="ctr"/>
          <a:lstStyle/>
          <a:p>
            <a:pPr indent="0" marL="0">
              <a:buNone/>
            </a:pPr>
            <a:r>
              <a:rPr lang="en-US" sz="1150" dirty="0">
                <a:solidFill>
                  <a:srgbClr val="6F736F"/>
                </a:solidFill>
                <a:latin typeface="Consolas" pitchFamily="34" charset="0"/>
                <a:ea typeface="Consolas" pitchFamily="34" charset="-122"/>
                <a:cs typeface="Consolas" pitchFamily="34" charset="-120"/>
              </a:rPr>
              <a:t>••••••••••••••••••••••  (masked)</a:t>
            </a:r>
            <a:endParaRPr lang="en-US" sz="1150" dirty="0"/>
          </a:p>
        </p:txBody>
      </p:sp>
      <p:sp>
        <p:nvSpPr>
          <p:cNvPr id="21" name="Shape 19"/>
          <p:cNvSpPr/>
          <p:nvPr/>
        </p:nvSpPr>
        <p:spPr>
          <a:xfrm>
            <a:off x="6172200" y="5138928"/>
            <a:ext cx="1298448" cy="512064"/>
          </a:xfrm>
          <a:prstGeom prst="roundRect">
            <a:avLst/>
          </a:prstGeom>
          <a:solidFill>
            <a:srgbClr val="2EA76F"/>
          </a:solidFill>
          <a:ln w="12700">
            <a:solidFill>
              <a:srgbClr val="2EA76F"/>
            </a:solidFill>
            <a:prstDash val="solid"/>
          </a:ln>
        </p:spPr>
      </p:sp>
      <p:sp>
        <p:nvSpPr>
          <p:cNvPr id="22" name="Text 20"/>
          <p:cNvSpPr/>
          <p:nvPr/>
        </p:nvSpPr>
        <p:spPr>
          <a:xfrm>
            <a:off x="6172200" y="5248656"/>
            <a:ext cx="12984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SAVE</a:t>
            </a:r>
            <a:endParaRPr lang="en-US" sz="1300" dirty="0"/>
          </a:p>
        </p:txBody>
      </p:sp>
      <p:sp>
        <p:nvSpPr>
          <p:cNvPr id="23" name="Shape 21"/>
          <p:cNvSpPr/>
          <p:nvPr/>
        </p:nvSpPr>
        <p:spPr>
          <a:xfrm>
            <a:off x="8796528" y="2331720"/>
            <a:ext cx="384048" cy="384048"/>
          </a:xfrm>
          <a:prstGeom prst="ellipse">
            <a:avLst/>
          </a:prstGeom>
          <a:solidFill>
            <a:srgbClr val="229ED9"/>
          </a:solidFill>
          <a:ln w="12700">
            <a:solidFill>
              <a:srgbClr val="229ED9"/>
            </a:solidFill>
            <a:prstDash val="solid"/>
          </a:ln>
        </p:spPr>
      </p:sp>
      <p:sp>
        <p:nvSpPr>
          <p:cNvPr id="24" name="Text 22"/>
          <p:cNvSpPr/>
          <p:nvPr/>
        </p:nvSpPr>
        <p:spPr>
          <a:xfrm>
            <a:off x="8796528" y="2340864"/>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25" name="Text 23"/>
          <p:cNvSpPr/>
          <p:nvPr/>
        </p:nvSpPr>
        <p:spPr>
          <a:xfrm>
            <a:off x="9354312" y="2267712"/>
            <a:ext cx="1645920" cy="292608"/>
          </a:xfrm>
          <a:prstGeom prst="rect">
            <a:avLst/>
          </a:prstGeom>
          <a:noFill/>
          <a:ln/>
        </p:spPr>
        <p:txBody>
          <a:bodyPr wrap="square" lIns="0" tIns="0" rIns="0" bIns="0" rtlCol="0" anchor="ctr"/>
          <a:lstStyle/>
          <a:p>
            <a:pPr indent="0" marL="0">
              <a:buNone/>
            </a:pPr>
            <a:r>
              <a:rPr lang="en-US" sz="1500" b="1" dirty="0">
                <a:solidFill>
                  <a:srgbClr val="171B1F"/>
                </a:solidFill>
                <a:latin typeface="Aptos" pitchFamily="34" charset="0"/>
                <a:ea typeface="Aptos" pitchFamily="34" charset="-122"/>
                <a:cs typeface="Aptos" pitchFamily="34" charset="-120"/>
              </a:rPr>
              <a:t>Copy token</a:t>
            </a:r>
            <a:endParaRPr lang="en-US" sz="1500" dirty="0"/>
          </a:p>
        </p:txBody>
      </p:sp>
      <p:sp>
        <p:nvSpPr>
          <p:cNvPr id="26" name="Text 24"/>
          <p:cNvSpPr/>
          <p:nvPr/>
        </p:nvSpPr>
        <p:spPr>
          <a:xfrm>
            <a:off x="9354312" y="2615184"/>
            <a:ext cx="1874520" cy="274320"/>
          </a:xfrm>
          <a:prstGeom prst="rect">
            <a:avLst/>
          </a:prstGeom>
          <a:noFill/>
          <a:ln/>
        </p:spPr>
        <p:txBody>
          <a:bodyPr wrap="square" lIns="0" tIns="0" rIns="0" bIns="0" rtlCol="0" anchor="ctr"/>
          <a:lstStyle/>
          <a:p>
            <a:pPr indent="0" marL="0">
              <a:buNone/>
            </a:pPr>
            <a:r>
              <a:rPr lang="en-US" sz="1250" dirty="0">
                <a:solidFill>
                  <a:srgbClr val="171B1F"/>
                </a:solidFill>
                <a:latin typeface="Consolas" pitchFamily="34" charset="0"/>
                <a:ea typeface="Consolas" pitchFamily="34" charset="-122"/>
                <a:cs typeface="Consolas" pitchFamily="34" charset="-120"/>
              </a:rPr>
              <a:t>--copy-token</a:t>
            </a:r>
            <a:endParaRPr lang="en-US" sz="1250" dirty="0"/>
          </a:p>
        </p:txBody>
      </p:sp>
      <p:sp>
        <p:nvSpPr>
          <p:cNvPr id="27" name="Shape 25"/>
          <p:cNvSpPr/>
          <p:nvPr/>
        </p:nvSpPr>
        <p:spPr>
          <a:xfrm>
            <a:off x="8796528" y="3355848"/>
            <a:ext cx="384048" cy="384048"/>
          </a:xfrm>
          <a:prstGeom prst="ellipse">
            <a:avLst/>
          </a:prstGeom>
          <a:solidFill>
            <a:srgbClr val="229ED9"/>
          </a:solidFill>
          <a:ln w="12700">
            <a:solidFill>
              <a:srgbClr val="229ED9"/>
            </a:solidFill>
            <a:prstDash val="solid"/>
          </a:ln>
        </p:spPr>
      </p:sp>
      <p:sp>
        <p:nvSpPr>
          <p:cNvPr id="28" name="Text 26"/>
          <p:cNvSpPr/>
          <p:nvPr/>
        </p:nvSpPr>
        <p:spPr>
          <a:xfrm>
            <a:off x="8796528" y="3364992"/>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29" name="Text 27"/>
          <p:cNvSpPr/>
          <p:nvPr/>
        </p:nvSpPr>
        <p:spPr>
          <a:xfrm>
            <a:off x="9354312" y="3291840"/>
            <a:ext cx="1645920" cy="292608"/>
          </a:xfrm>
          <a:prstGeom prst="rect">
            <a:avLst/>
          </a:prstGeom>
          <a:noFill/>
          <a:ln/>
        </p:spPr>
        <p:txBody>
          <a:bodyPr wrap="square" lIns="0" tIns="0" rIns="0" bIns="0" rtlCol="0" anchor="ctr"/>
          <a:lstStyle/>
          <a:p>
            <a:pPr indent="0" marL="0">
              <a:buNone/>
            </a:pPr>
            <a:r>
              <a:rPr lang="en-US" sz="1500" b="1" dirty="0">
                <a:solidFill>
                  <a:srgbClr val="171B1F"/>
                </a:solidFill>
                <a:latin typeface="Aptos" pitchFamily="34" charset="0"/>
                <a:ea typeface="Aptos" pitchFamily="34" charset="-122"/>
                <a:cs typeface="Aptos" pitchFamily="34" charset="-120"/>
              </a:rPr>
              <a:t>Paste + save</a:t>
            </a:r>
            <a:endParaRPr lang="en-US" sz="1500" dirty="0"/>
          </a:p>
        </p:txBody>
      </p:sp>
      <p:sp>
        <p:nvSpPr>
          <p:cNvPr id="30" name="Text 28"/>
          <p:cNvSpPr/>
          <p:nvPr/>
        </p:nvSpPr>
        <p:spPr>
          <a:xfrm>
            <a:off x="9354312" y="3639312"/>
            <a:ext cx="1874520" cy="274320"/>
          </a:xfrm>
          <a:prstGeom prst="rect">
            <a:avLst/>
          </a:prstGeom>
          <a:noFill/>
          <a:ln/>
        </p:spPr>
        <p:txBody>
          <a:bodyPr wrap="square" lIns="0" tIns="0" rIns="0" bIns="0" rtlCol="0" anchor="ctr"/>
          <a:lstStyle/>
          <a:p>
            <a:pPr indent="0" marL="0">
              <a:buNone/>
            </a:pPr>
            <a:r>
              <a:rPr lang="en-US" sz="1250" dirty="0">
                <a:solidFill>
                  <a:srgbClr val="171B1F"/>
                </a:solidFill>
                <a:latin typeface="Consolas" pitchFamily="34" charset="0"/>
                <a:ea typeface="Consolas" pitchFamily="34" charset="-122"/>
                <a:cs typeface="Consolas" pitchFamily="34" charset="-120"/>
              </a:rPr>
              <a:t>n8n form</a:t>
            </a:r>
            <a:endParaRPr lang="en-US" sz="1250" dirty="0"/>
          </a:p>
        </p:txBody>
      </p:sp>
      <p:sp>
        <p:nvSpPr>
          <p:cNvPr id="31" name="Shape 29"/>
          <p:cNvSpPr/>
          <p:nvPr/>
        </p:nvSpPr>
        <p:spPr>
          <a:xfrm>
            <a:off x="8796528" y="4379976"/>
            <a:ext cx="384048" cy="384048"/>
          </a:xfrm>
          <a:prstGeom prst="ellipse">
            <a:avLst/>
          </a:prstGeom>
          <a:solidFill>
            <a:srgbClr val="FF6B57"/>
          </a:solidFill>
          <a:ln w="12700">
            <a:solidFill>
              <a:srgbClr val="FF6B57"/>
            </a:solidFill>
            <a:prstDash val="solid"/>
          </a:ln>
        </p:spPr>
      </p:sp>
      <p:sp>
        <p:nvSpPr>
          <p:cNvPr id="32" name="Text 30"/>
          <p:cNvSpPr/>
          <p:nvPr/>
        </p:nvSpPr>
        <p:spPr>
          <a:xfrm>
            <a:off x="8796528" y="4389120"/>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3" name="Text 31"/>
          <p:cNvSpPr/>
          <p:nvPr/>
        </p:nvSpPr>
        <p:spPr>
          <a:xfrm>
            <a:off x="9354312" y="4315968"/>
            <a:ext cx="1645920" cy="292608"/>
          </a:xfrm>
          <a:prstGeom prst="rect">
            <a:avLst/>
          </a:prstGeom>
          <a:noFill/>
          <a:ln/>
        </p:spPr>
        <p:txBody>
          <a:bodyPr wrap="square" lIns="0" tIns="0" rIns="0" bIns="0" rtlCol="0" anchor="ctr"/>
          <a:lstStyle/>
          <a:p>
            <a:pPr indent="0" marL="0">
              <a:buNone/>
            </a:pPr>
            <a:r>
              <a:rPr lang="en-US" sz="1500" b="1" dirty="0">
                <a:solidFill>
                  <a:srgbClr val="171B1F"/>
                </a:solidFill>
                <a:latin typeface="Aptos" pitchFamily="34" charset="0"/>
                <a:ea typeface="Aptos" pitchFamily="34" charset="-122"/>
                <a:cs typeface="Aptos" pitchFamily="34" charset="-120"/>
              </a:rPr>
              <a:t>Clear</a:t>
            </a:r>
            <a:endParaRPr lang="en-US" sz="1500" dirty="0"/>
          </a:p>
        </p:txBody>
      </p:sp>
      <p:sp>
        <p:nvSpPr>
          <p:cNvPr id="34" name="Text 32"/>
          <p:cNvSpPr/>
          <p:nvPr/>
        </p:nvSpPr>
        <p:spPr>
          <a:xfrm>
            <a:off x="9354312" y="4663440"/>
            <a:ext cx="1874520" cy="274320"/>
          </a:xfrm>
          <a:prstGeom prst="rect">
            <a:avLst/>
          </a:prstGeom>
          <a:noFill/>
          <a:ln/>
        </p:spPr>
        <p:txBody>
          <a:bodyPr wrap="square" lIns="0" tIns="0" rIns="0" bIns="0" rtlCol="0" anchor="ctr"/>
          <a:lstStyle/>
          <a:p>
            <a:pPr indent="0" marL="0">
              <a:buNone/>
            </a:pPr>
            <a:r>
              <a:rPr lang="en-US" sz="1250" dirty="0">
                <a:solidFill>
                  <a:srgbClr val="171B1F"/>
                </a:solidFill>
                <a:latin typeface="Consolas" pitchFamily="34" charset="0"/>
                <a:ea typeface="Consolas" pitchFamily="34" charset="-122"/>
                <a:cs typeface="Consolas" pitchFamily="34" charset="-120"/>
              </a:rPr>
              <a:t>--clear-clipboard</a:t>
            </a:r>
            <a:endParaRPr lang="en-US" sz="1250" dirty="0"/>
          </a:p>
        </p:txBody>
      </p:sp>
      <p:sp>
        <p:nvSpPr>
          <p:cNvPr id="35" name="Shape 33"/>
          <p:cNvSpPr/>
          <p:nvPr/>
        </p:nvSpPr>
        <p:spPr>
          <a:xfrm>
            <a:off x="8595360" y="5486400"/>
            <a:ext cx="2743200" cy="310896"/>
          </a:xfrm>
          <a:prstGeom prst="roundRect">
            <a:avLst/>
          </a:prstGeom>
          <a:solidFill>
            <a:srgbClr val="FFE5DF"/>
          </a:solidFill>
          <a:ln w="12700">
            <a:solidFill>
              <a:srgbClr val="FFE5DF"/>
            </a:solidFill>
            <a:prstDash val="solid"/>
          </a:ln>
        </p:spPr>
      </p:sp>
      <p:sp>
        <p:nvSpPr>
          <p:cNvPr id="36" name="Text 34"/>
          <p:cNvSpPr/>
          <p:nvPr/>
        </p:nvSpPr>
        <p:spPr>
          <a:xfrm>
            <a:off x="8668512" y="5495544"/>
            <a:ext cx="2596896" cy="274320"/>
          </a:xfrm>
          <a:prstGeom prst="rect">
            <a:avLst/>
          </a:prstGeom>
          <a:noFill/>
          <a:ln/>
        </p:spPr>
        <p:txBody>
          <a:bodyPr wrap="square" lIns="0" tIns="0" rIns="0" bIns="0" rtlCol="0" anchor="ctr"/>
          <a:lstStyle/>
          <a:p>
            <a:pPr algn="ctr" indent="0" marL="0">
              <a:buNone/>
            </a:pPr>
            <a:r>
              <a:rPr lang="en-US" sz="1050" b="1" dirty="0">
                <a:solidFill>
                  <a:srgbClr val="C83F49"/>
                </a:solidFill>
                <a:latin typeface="Aptos" pitchFamily="34" charset="0"/>
                <a:ea typeface="Aptos" pitchFamily="34" charset="-122"/>
                <a:cs typeface="Aptos" pitchFamily="34" charset="-120"/>
              </a:rPr>
              <a:t>NEVER TYPE A TOKEN INTO A WORKFLOW NODE</a:t>
            </a:r>
            <a:endParaRPr lang="en-US" sz="10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10</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WORKFLOW MAP</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Three milestones, one guarded path</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The pre-class JSON is a study copy. Import inactive until the live gate passes.</a:t>
            </a:r>
            <a:endParaRPr lang="en-US" sz="1450" dirty="0"/>
          </a:p>
        </p:txBody>
      </p:sp>
      <p:sp>
        <p:nvSpPr>
          <p:cNvPr id="6" name="Shape 4"/>
          <p:cNvSpPr/>
          <p:nvPr/>
        </p:nvSpPr>
        <p:spPr>
          <a:xfrm>
            <a:off x="713232" y="1984248"/>
            <a:ext cx="3401568" cy="3639312"/>
          </a:xfrm>
          <a:prstGeom prst="rect">
            <a:avLst/>
          </a:prstGeom>
          <a:solidFill>
            <a:srgbClr val="FFFFFF"/>
          </a:solidFill>
          <a:ln w="12700">
            <a:solidFill>
              <a:srgbClr val="D8D4CC"/>
            </a:solidFill>
            <a:prstDash val="solid"/>
          </a:ln>
        </p:spPr>
      </p:sp>
      <p:sp>
        <p:nvSpPr>
          <p:cNvPr id="7" name="Shape 5"/>
          <p:cNvSpPr/>
          <p:nvPr/>
        </p:nvSpPr>
        <p:spPr>
          <a:xfrm>
            <a:off x="713232" y="1984248"/>
            <a:ext cx="3401568" cy="530352"/>
          </a:xfrm>
          <a:prstGeom prst="rect">
            <a:avLst/>
          </a:prstGeom>
          <a:solidFill>
            <a:srgbClr val="229ED9"/>
          </a:solidFill>
          <a:ln w="12700">
            <a:solidFill>
              <a:srgbClr val="229ED9"/>
            </a:solidFill>
            <a:prstDash val="solid"/>
          </a:ln>
        </p:spPr>
      </p:sp>
      <p:sp>
        <p:nvSpPr>
          <p:cNvPr id="8" name="Text 6"/>
          <p:cNvSpPr/>
          <p:nvPr/>
        </p:nvSpPr>
        <p:spPr>
          <a:xfrm>
            <a:off x="941832" y="2093976"/>
            <a:ext cx="292608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P1  EARS</a:t>
            </a:r>
            <a:endParaRPr lang="en-US" sz="1600" dirty="0"/>
          </a:p>
        </p:txBody>
      </p:sp>
      <p:sp>
        <p:nvSpPr>
          <p:cNvPr id="9" name="Shape 7"/>
          <p:cNvSpPr/>
          <p:nvPr/>
        </p:nvSpPr>
        <p:spPr>
          <a:xfrm>
            <a:off x="987552" y="2779776"/>
            <a:ext cx="384048" cy="384048"/>
          </a:xfrm>
          <a:prstGeom prst="ellipse">
            <a:avLst/>
          </a:prstGeom>
          <a:solidFill>
            <a:srgbClr val="229ED9"/>
          </a:solidFill>
          <a:ln w="12700">
            <a:solidFill>
              <a:srgbClr val="229ED9"/>
            </a:solidFill>
            <a:prstDash val="solid"/>
          </a:ln>
        </p:spPr>
      </p:sp>
      <p:sp>
        <p:nvSpPr>
          <p:cNvPr id="10" name="Text 8"/>
          <p:cNvSpPr/>
          <p:nvPr/>
        </p:nvSpPr>
        <p:spPr>
          <a:xfrm>
            <a:off x="987552" y="2788920"/>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1" name="Text 9"/>
          <p:cNvSpPr/>
          <p:nvPr/>
        </p:nvSpPr>
        <p:spPr>
          <a:xfrm>
            <a:off x="1536192" y="2761488"/>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Telegram Trigger</a:t>
            </a:r>
            <a:endParaRPr lang="en-US" sz="1300" dirty="0"/>
          </a:p>
        </p:txBody>
      </p:sp>
      <p:sp>
        <p:nvSpPr>
          <p:cNvPr id="12" name="Shape 10"/>
          <p:cNvSpPr/>
          <p:nvPr/>
        </p:nvSpPr>
        <p:spPr>
          <a:xfrm>
            <a:off x="987552" y="3300984"/>
            <a:ext cx="384048" cy="384048"/>
          </a:xfrm>
          <a:prstGeom prst="ellipse">
            <a:avLst/>
          </a:prstGeom>
          <a:solidFill>
            <a:srgbClr val="229ED9"/>
          </a:solidFill>
          <a:ln w="12700">
            <a:solidFill>
              <a:srgbClr val="229ED9"/>
            </a:solidFill>
            <a:prstDash val="solid"/>
          </a:ln>
        </p:spPr>
      </p:sp>
      <p:sp>
        <p:nvSpPr>
          <p:cNvPr id="13" name="Text 11"/>
          <p:cNvSpPr/>
          <p:nvPr/>
        </p:nvSpPr>
        <p:spPr>
          <a:xfrm>
            <a:off x="987552" y="3310128"/>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4" name="Text 12"/>
          <p:cNvSpPr/>
          <p:nvPr/>
        </p:nvSpPr>
        <p:spPr>
          <a:xfrm>
            <a:off x="1536192" y="3282696"/>
            <a:ext cx="2240280" cy="310896"/>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Owner guard</a:t>
            </a:r>
            <a:endParaRPr lang="en-US" sz="1300" dirty="0"/>
          </a:p>
        </p:txBody>
      </p:sp>
      <p:sp>
        <p:nvSpPr>
          <p:cNvPr id="15" name="Shape 13"/>
          <p:cNvSpPr/>
          <p:nvPr/>
        </p:nvSpPr>
        <p:spPr>
          <a:xfrm>
            <a:off x="987552" y="3822192"/>
            <a:ext cx="384048" cy="384048"/>
          </a:xfrm>
          <a:prstGeom prst="ellipse">
            <a:avLst/>
          </a:prstGeom>
          <a:solidFill>
            <a:srgbClr val="229ED9"/>
          </a:solidFill>
          <a:ln w="12700">
            <a:solidFill>
              <a:srgbClr val="229ED9"/>
            </a:solidFill>
            <a:prstDash val="solid"/>
          </a:ln>
        </p:spPr>
      </p:sp>
      <p:sp>
        <p:nvSpPr>
          <p:cNvPr id="16" name="Text 14"/>
          <p:cNvSpPr/>
          <p:nvPr/>
        </p:nvSpPr>
        <p:spPr>
          <a:xfrm>
            <a:off x="987552" y="383133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7" name="Text 15"/>
          <p:cNvSpPr/>
          <p:nvPr/>
        </p:nvSpPr>
        <p:spPr>
          <a:xfrm>
            <a:off x="1536192" y="3803904"/>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Download ogg</a:t>
            </a:r>
            <a:endParaRPr lang="en-US" sz="1300" dirty="0"/>
          </a:p>
        </p:txBody>
      </p:sp>
      <p:sp>
        <p:nvSpPr>
          <p:cNvPr id="18" name="Shape 16"/>
          <p:cNvSpPr/>
          <p:nvPr/>
        </p:nvSpPr>
        <p:spPr>
          <a:xfrm>
            <a:off x="987552" y="4343400"/>
            <a:ext cx="384048" cy="384048"/>
          </a:xfrm>
          <a:prstGeom prst="ellipse">
            <a:avLst/>
          </a:prstGeom>
          <a:solidFill>
            <a:srgbClr val="229ED9"/>
          </a:solidFill>
          <a:ln w="12700">
            <a:solidFill>
              <a:srgbClr val="229ED9"/>
            </a:solidFill>
            <a:prstDash val="solid"/>
          </a:ln>
        </p:spPr>
      </p:sp>
      <p:sp>
        <p:nvSpPr>
          <p:cNvPr id="19" name="Text 17"/>
          <p:cNvSpPr/>
          <p:nvPr/>
        </p:nvSpPr>
        <p:spPr>
          <a:xfrm>
            <a:off x="987552" y="4352544"/>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0" name="Text 18"/>
          <p:cNvSpPr/>
          <p:nvPr/>
        </p:nvSpPr>
        <p:spPr>
          <a:xfrm>
            <a:off x="1536192" y="4325112"/>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ffmpeg -&gt; mp3</a:t>
            </a:r>
            <a:endParaRPr lang="en-US" sz="1300" dirty="0"/>
          </a:p>
        </p:txBody>
      </p:sp>
      <p:sp>
        <p:nvSpPr>
          <p:cNvPr id="21" name="Shape 19"/>
          <p:cNvSpPr/>
          <p:nvPr/>
        </p:nvSpPr>
        <p:spPr>
          <a:xfrm>
            <a:off x="987552" y="4864608"/>
            <a:ext cx="384048" cy="384048"/>
          </a:xfrm>
          <a:prstGeom prst="ellipse">
            <a:avLst/>
          </a:prstGeom>
          <a:solidFill>
            <a:srgbClr val="229ED9"/>
          </a:solidFill>
          <a:ln w="12700">
            <a:solidFill>
              <a:srgbClr val="229ED9"/>
            </a:solidFill>
            <a:prstDash val="solid"/>
          </a:ln>
        </p:spPr>
      </p:sp>
      <p:sp>
        <p:nvSpPr>
          <p:cNvPr id="22" name="Text 20"/>
          <p:cNvSpPr/>
          <p:nvPr/>
        </p:nvSpPr>
        <p:spPr>
          <a:xfrm>
            <a:off x="987552" y="4873752"/>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1"/>
          <p:cNvSpPr/>
          <p:nvPr/>
        </p:nvSpPr>
        <p:spPr>
          <a:xfrm>
            <a:off x="1536192" y="4846320"/>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Transcribe</a:t>
            </a:r>
            <a:endParaRPr lang="en-US" sz="1300" dirty="0"/>
          </a:p>
        </p:txBody>
      </p:sp>
      <p:sp>
        <p:nvSpPr>
          <p:cNvPr id="24" name="Shape 22"/>
          <p:cNvSpPr/>
          <p:nvPr/>
        </p:nvSpPr>
        <p:spPr>
          <a:xfrm>
            <a:off x="4507992" y="1984248"/>
            <a:ext cx="3401568" cy="3639312"/>
          </a:xfrm>
          <a:prstGeom prst="rect">
            <a:avLst/>
          </a:prstGeom>
          <a:solidFill>
            <a:srgbClr val="FFFFFF"/>
          </a:solidFill>
          <a:ln w="12700">
            <a:solidFill>
              <a:srgbClr val="D8D4CC"/>
            </a:solidFill>
            <a:prstDash val="solid"/>
          </a:ln>
        </p:spPr>
      </p:sp>
      <p:sp>
        <p:nvSpPr>
          <p:cNvPr id="25" name="Shape 23"/>
          <p:cNvSpPr/>
          <p:nvPr/>
        </p:nvSpPr>
        <p:spPr>
          <a:xfrm>
            <a:off x="4507992" y="1984248"/>
            <a:ext cx="3401568" cy="530352"/>
          </a:xfrm>
          <a:prstGeom prst="rect">
            <a:avLst/>
          </a:prstGeom>
          <a:solidFill>
            <a:srgbClr val="2EA76F"/>
          </a:solidFill>
          <a:ln w="12700">
            <a:solidFill>
              <a:srgbClr val="2EA76F"/>
            </a:solidFill>
            <a:prstDash val="solid"/>
          </a:ln>
        </p:spPr>
      </p:sp>
      <p:sp>
        <p:nvSpPr>
          <p:cNvPr id="26" name="Text 24"/>
          <p:cNvSpPr/>
          <p:nvPr/>
        </p:nvSpPr>
        <p:spPr>
          <a:xfrm>
            <a:off x="4736592" y="2093976"/>
            <a:ext cx="292608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P2  ASK</a:t>
            </a:r>
            <a:endParaRPr lang="en-US" sz="1600" dirty="0"/>
          </a:p>
        </p:txBody>
      </p:sp>
      <p:sp>
        <p:nvSpPr>
          <p:cNvPr id="27" name="Shape 25"/>
          <p:cNvSpPr/>
          <p:nvPr/>
        </p:nvSpPr>
        <p:spPr>
          <a:xfrm>
            <a:off x="4782312" y="2779776"/>
            <a:ext cx="384048" cy="384048"/>
          </a:xfrm>
          <a:prstGeom prst="ellipse">
            <a:avLst/>
          </a:prstGeom>
          <a:solidFill>
            <a:srgbClr val="2EA76F"/>
          </a:solidFill>
          <a:ln w="12700">
            <a:solidFill>
              <a:srgbClr val="2EA76F"/>
            </a:solidFill>
            <a:prstDash val="solid"/>
          </a:ln>
        </p:spPr>
      </p:sp>
      <p:sp>
        <p:nvSpPr>
          <p:cNvPr id="28" name="Text 26"/>
          <p:cNvSpPr/>
          <p:nvPr/>
        </p:nvSpPr>
        <p:spPr>
          <a:xfrm>
            <a:off x="4782312" y="2788920"/>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29" name="Text 27"/>
          <p:cNvSpPr/>
          <p:nvPr/>
        </p:nvSpPr>
        <p:spPr>
          <a:xfrm>
            <a:off x="5330952" y="2761488"/>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Read transcript</a:t>
            </a:r>
            <a:endParaRPr lang="en-US" sz="1300" dirty="0"/>
          </a:p>
        </p:txBody>
      </p:sp>
      <p:sp>
        <p:nvSpPr>
          <p:cNvPr id="30" name="Shape 28"/>
          <p:cNvSpPr/>
          <p:nvPr/>
        </p:nvSpPr>
        <p:spPr>
          <a:xfrm>
            <a:off x="4782312" y="3300984"/>
            <a:ext cx="384048" cy="384048"/>
          </a:xfrm>
          <a:prstGeom prst="ellipse">
            <a:avLst/>
          </a:prstGeom>
          <a:solidFill>
            <a:srgbClr val="2EA76F"/>
          </a:solidFill>
          <a:ln w="12700">
            <a:solidFill>
              <a:srgbClr val="2EA76F"/>
            </a:solidFill>
            <a:prstDash val="solid"/>
          </a:ln>
        </p:spPr>
      </p:sp>
      <p:sp>
        <p:nvSpPr>
          <p:cNvPr id="31" name="Text 29"/>
          <p:cNvSpPr/>
          <p:nvPr/>
        </p:nvSpPr>
        <p:spPr>
          <a:xfrm>
            <a:off x="4782312" y="3310128"/>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32" name="Text 30"/>
          <p:cNvSpPr/>
          <p:nvPr/>
        </p:nvSpPr>
        <p:spPr>
          <a:xfrm>
            <a:off x="5330952" y="3282696"/>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POST /ask</a:t>
            </a:r>
            <a:endParaRPr lang="en-US" sz="1300" dirty="0"/>
          </a:p>
        </p:txBody>
      </p:sp>
      <p:sp>
        <p:nvSpPr>
          <p:cNvPr id="33" name="Shape 31"/>
          <p:cNvSpPr/>
          <p:nvPr/>
        </p:nvSpPr>
        <p:spPr>
          <a:xfrm>
            <a:off x="4782312" y="3822192"/>
            <a:ext cx="384048" cy="384048"/>
          </a:xfrm>
          <a:prstGeom prst="ellipse">
            <a:avLst/>
          </a:prstGeom>
          <a:solidFill>
            <a:srgbClr val="2EA76F"/>
          </a:solidFill>
          <a:ln w="12700">
            <a:solidFill>
              <a:srgbClr val="2EA76F"/>
            </a:solidFill>
            <a:prstDash val="solid"/>
          </a:ln>
        </p:spPr>
      </p:sp>
      <p:sp>
        <p:nvSpPr>
          <p:cNvPr id="34" name="Text 32"/>
          <p:cNvSpPr/>
          <p:nvPr/>
        </p:nvSpPr>
        <p:spPr>
          <a:xfrm>
            <a:off x="4782312" y="383133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5" name="Text 33"/>
          <p:cNvSpPr/>
          <p:nvPr/>
        </p:nvSpPr>
        <p:spPr>
          <a:xfrm>
            <a:off x="5330952" y="3803904"/>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Shape answer</a:t>
            </a:r>
            <a:endParaRPr lang="en-US" sz="1300" dirty="0"/>
          </a:p>
        </p:txBody>
      </p:sp>
      <p:sp>
        <p:nvSpPr>
          <p:cNvPr id="36" name="Shape 34"/>
          <p:cNvSpPr/>
          <p:nvPr/>
        </p:nvSpPr>
        <p:spPr>
          <a:xfrm>
            <a:off x="4782312" y="4343400"/>
            <a:ext cx="384048" cy="384048"/>
          </a:xfrm>
          <a:prstGeom prst="ellipse">
            <a:avLst/>
          </a:prstGeom>
          <a:solidFill>
            <a:srgbClr val="2EA76F"/>
          </a:solidFill>
          <a:ln w="12700">
            <a:solidFill>
              <a:srgbClr val="2EA76F"/>
            </a:solidFill>
            <a:prstDash val="solid"/>
          </a:ln>
        </p:spPr>
      </p:sp>
      <p:sp>
        <p:nvSpPr>
          <p:cNvPr id="37" name="Text 35"/>
          <p:cNvSpPr/>
          <p:nvPr/>
        </p:nvSpPr>
        <p:spPr>
          <a:xfrm>
            <a:off x="4782312" y="4352544"/>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8" name="Text 36"/>
          <p:cNvSpPr/>
          <p:nvPr/>
        </p:nvSpPr>
        <p:spPr>
          <a:xfrm>
            <a:off x="5330952" y="4325112"/>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Send text</a:t>
            </a:r>
            <a:endParaRPr lang="en-US" sz="1300" dirty="0"/>
          </a:p>
        </p:txBody>
      </p:sp>
      <p:sp>
        <p:nvSpPr>
          <p:cNvPr id="39" name="Shape 37"/>
          <p:cNvSpPr/>
          <p:nvPr/>
        </p:nvSpPr>
        <p:spPr>
          <a:xfrm>
            <a:off x="4782312" y="4864608"/>
            <a:ext cx="384048" cy="384048"/>
          </a:xfrm>
          <a:prstGeom prst="ellipse">
            <a:avLst/>
          </a:prstGeom>
          <a:solidFill>
            <a:srgbClr val="2EA76F"/>
          </a:solidFill>
          <a:ln w="12700">
            <a:solidFill>
              <a:srgbClr val="2EA76F"/>
            </a:solidFill>
            <a:prstDash val="solid"/>
          </a:ln>
        </p:spPr>
      </p:sp>
      <p:sp>
        <p:nvSpPr>
          <p:cNvPr id="40" name="Text 38"/>
          <p:cNvSpPr/>
          <p:nvPr/>
        </p:nvSpPr>
        <p:spPr>
          <a:xfrm>
            <a:off x="4782312" y="4873752"/>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41" name="Text 39"/>
          <p:cNvSpPr/>
          <p:nvPr/>
        </p:nvSpPr>
        <p:spPr>
          <a:xfrm>
            <a:off x="5330952" y="4846320"/>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Honor refusal</a:t>
            </a:r>
            <a:endParaRPr lang="en-US" sz="1300" dirty="0"/>
          </a:p>
        </p:txBody>
      </p:sp>
      <p:sp>
        <p:nvSpPr>
          <p:cNvPr id="42" name="Shape 40"/>
          <p:cNvSpPr/>
          <p:nvPr/>
        </p:nvSpPr>
        <p:spPr>
          <a:xfrm>
            <a:off x="8302752" y="1984248"/>
            <a:ext cx="3401568" cy="3639312"/>
          </a:xfrm>
          <a:prstGeom prst="rect">
            <a:avLst/>
          </a:prstGeom>
          <a:solidFill>
            <a:srgbClr val="FFFFFF"/>
          </a:solidFill>
          <a:ln w="12700">
            <a:solidFill>
              <a:srgbClr val="D8D4CC"/>
            </a:solidFill>
            <a:prstDash val="solid"/>
          </a:ln>
        </p:spPr>
      </p:sp>
      <p:sp>
        <p:nvSpPr>
          <p:cNvPr id="43" name="Shape 41"/>
          <p:cNvSpPr/>
          <p:nvPr/>
        </p:nvSpPr>
        <p:spPr>
          <a:xfrm>
            <a:off x="8302752" y="1984248"/>
            <a:ext cx="3401568" cy="530352"/>
          </a:xfrm>
          <a:prstGeom prst="rect">
            <a:avLst/>
          </a:prstGeom>
          <a:solidFill>
            <a:srgbClr val="FF6B57"/>
          </a:solidFill>
          <a:ln w="12700">
            <a:solidFill>
              <a:srgbClr val="FF6B57"/>
            </a:solidFill>
            <a:prstDash val="solid"/>
          </a:ln>
        </p:spPr>
      </p:sp>
      <p:sp>
        <p:nvSpPr>
          <p:cNvPr id="44" name="Text 42"/>
          <p:cNvSpPr/>
          <p:nvPr/>
        </p:nvSpPr>
        <p:spPr>
          <a:xfrm>
            <a:off x="8531352" y="2093976"/>
            <a:ext cx="292608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P3  VOICE</a:t>
            </a:r>
            <a:endParaRPr lang="en-US" sz="1600" dirty="0"/>
          </a:p>
        </p:txBody>
      </p:sp>
      <p:sp>
        <p:nvSpPr>
          <p:cNvPr id="45" name="Shape 43"/>
          <p:cNvSpPr/>
          <p:nvPr/>
        </p:nvSpPr>
        <p:spPr>
          <a:xfrm>
            <a:off x="8577072" y="2779776"/>
            <a:ext cx="384048" cy="384048"/>
          </a:xfrm>
          <a:prstGeom prst="ellipse">
            <a:avLst/>
          </a:prstGeom>
          <a:solidFill>
            <a:srgbClr val="FF6B57"/>
          </a:solidFill>
          <a:ln w="12700">
            <a:solidFill>
              <a:srgbClr val="FF6B57"/>
            </a:solidFill>
            <a:prstDash val="solid"/>
          </a:ln>
        </p:spPr>
      </p:sp>
      <p:sp>
        <p:nvSpPr>
          <p:cNvPr id="46" name="Text 44"/>
          <p:cNvSpPr/>
          <p:nvPr/>
        </p:nvSpPr>
        <p:spPr>
          <a:xfrm>
            <a:off x="8577072" y="2788920"/>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47" name="Text 45"/>
          <p:cNvSpPr/>
          <p:nvPr/>
        </p:nvSpPr>
        <p:spPr>
          <a:xfrm>
            <a:off x="9125712" y="2761488"/>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Stream speech</a:t>
            </a:r>
            <a:endParaRPr lang="en-US" sz="1300" dirty="0"/>
          </a:p>
        </p:txBody>
      </p:sp>
      <p:sp>
        <p:nvSpPr>
          <p:cNvPr id="48" name="Shape 46"/>
          <p:cNvSpPr/>
          <p:nvPr/>
        </p:nvSpPr>
        <p:spPr>
          <a:xfrm>
            <a:off x="8577072" y="3300984"/>
            <a:ext cx="384048" cy="384048"/>
          </a:xfrm>
          <a:prstGeom prst="ellipse">
            <a:avLst/>
          </a:prstGeom>
          <a:solidFill>
            <a:srgbClr val="FF6B57"/>
          </a:solidFill>
          <a:ln w="12700">
            <a:solidFill>
              <a:srgbClr val="FF6B57"/>
            </a:solidFill>
            <a:prstDash val="solid"/>
          </a:ln>
        </p:spPr>
      </p:sp>
      <p:sp>
        <p:nvSpPr>
          <p:cNvPr id="49" name="Text 47"/>
          <p:cNvSpPr/>
          <p:nvPr/>
        </p:nvSpPr>
        <p:spPr>
          <a:xfrm>
            <a:off x="8577072" y="3310128"/>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50" name="Text 48"/>
          <p:cNvSpPr/>
          <p:nvPr/>
        </p:nvSpPr>
        <p:spPr>
          <a:xfrm>
            <a:off x="9125712" y="3282696"/>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Parse SSE</a:t>
            </a:r>
            <a:endParaRPr lang="en-US" sz="1300" dirty="0"/>
          </a:p>
        </p:txBody>
      </p:sp>
      <p:sp>
        <p:nvSpPr>
          <p:cNvPr id="51" name="Shape 49"/>
          <p:cNvSpPr/>
          <p:nvPr/>
        </p:nvSpPr>
        <p:spPr>
          <a:xfrm>
            <a:off x="8577072" y="3822192"/>
            <a:ext cx="384048" cy="384048"/>
          </a:xfrm>
          <a:prstGeom prst="ellipse">
            <a:avLst/>
          </a:prstGeom>
          <a:solidFill>
            <a:srgbClr val="FF6B57"/>
          </a:solidFill>
          <a:ln w="12700">
            <a:solidFill>
              <a:srgbClr val="FF6B57"/>
            </a:solidFill>
            <a:prstDash val="solid"/>
          </a:ln>
        </p:spPr>
      </p:sp>
      <p:sp>
        <p:nvSpPr>
          <p:cNvPr id="52" name="Text 50"/>
          <p:cNvSpPr/>
          <p:nvPr/>
        </p:nvSpPr>
        <p:spPr>
          <a:xfrm>
            <a:off x="8577072" y="383133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53" name="Text 51"/>
          <p:cNvSpPr/>
          <p:nvPr/>
        </p:nvSpPr>
        <p:spPr>
          <a:xfrm>
            <a:off x="9125712" y="3803904"/>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Save PCM</a:t>
            </a:r>
            <a:endParaRPr lang="en-US" sz="1300" dirty="0"/>
          </a:p>
        </p:txBody>
      </p:sp>
      <p:sp>
        <p:nvSpPr>
          <p:cNvPr id="54" name="Shape 52"/>
          <p:cNvSpPr/>
          <p:nvPr/>
        </p:nvSpPr>
        <p:spPr>
          <a:xfrm>
            <a:off x="8577072" y="4343400"/>
            <a:ext cx="384048" cy="384048"/>
          </a:xfrm>
          <a:prstGeom prst="ellipse">
            <a:avLst/>
          </a:prstGeom>
          <a:solidFill>
            <a:srgbClr val="FF6B57"/>
          </a:solidFill>
          <a:ln w="12700">
            <a:solidFill>
              <a:srgbClr val="FF6B57"/>
            </a:solidFill>
            <a:prstDash val="solid"/>
          </a:ln>
        </p:spPr>
      </p:sp>
      <p:sp>
        <p:nvSpPr>
          <p:cNvPr id="55" name="Text 53"/>
          <p:cNvSpPr/>
          <p:nvPr/>
        </p:nvSpPr>
        <p:spPr>
          <a:xfrm>
            <a:off x="8577072" y="4352544"/>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56" name="Text 54"/>
          <p:cNvSpPr/>
          <p:nvPr/>
        </p:nvSpPr>
        <p:spPr>
          <a:xfrm>
            <a:off x="9125712" y="4325112"/>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ffmpeg -&gt; opus</a:t>
            </a:r>
            <a:endParaRPr lang="en-US" sz="1300" dirty="0"/>
          </a:p>
        </p:txBody>
      </p:sp>
      <p:sp>
        <p:nvSpPr>
          <p:cNvPr id="57" name="Shape 55"/>
          <p:cNvSpPr/>
          <p:nvPr/>
        </p:nvSpPr>
        <p:spPr>
          <a:xfrm>
            <a:off x="8577072" y="4864608"/>
            <a:ext cx="384048" cy="384048"/>
          </a:xfrm>
          <a:prstGeom prst="ellipse">
            <a:avLst/>
          </a:prstGeom>
          <a:solidFill>
            <a:srgbClr val="FF6B57"/>
          </a:solidFill>
          <a:ln w="12700">
            <a:solidFill>
              <a:srgbClr val="FF6B57"/>
            </a:solidFill>
            <a:prstDash val="solid"/>
          </a:ln>
        </p:spPr>
      </p:sp>
      <p:sp>
        <p:nvSpPr>
          <p:cNvPr id="58" name="Text 56"/>
          <p:cNvSpPr/>
          <p:nvPr/>
        </p:nvSpPr>
        <p:spPr>
          <a:xfrm>
            <a:off x="8577072" y="4873752"/>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59" name="Text 57"/>
          <p:cNvSpPr/>
          <p:nvPr/>
        </p:nvSpPr>
        <p:spPr>
          <a:xfrm>
            <a:off x="9125712" y="4846320"/>
            <a:ext cx="2240280" cy="310896"/>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sendVoice</a:t>
            </a:r>
            <a:endParaRPr lang="en-US" sz="1300" dirty="0"/>
          </a:p>
        </p:txBody>
      </p:sp>
      <p:sp>
        <p:nvSpPr>
          <p:cNvPr id="60" name="Shape 58"/>
          <p:cNvSpPr/>
          <p:nvPr/>
        </p:nvSpPr>
        <p:spPr>
          <a:xfrm>
            <a:off x="4443984" y="5870448"/>
            <a:ext cx="3273552" cy="310896"/>
          </a:xfrm>
          <a:prstGeom prst="roundRect">
            <a:avLst/>
          </a:prstGeom>
          <a:solidFill>
            <a:srgbClr val="FFF0C8"/>
          </a:solidFill>
          <a:ln w="12700">
            <a:solidFill>
              <a:srgbClr val="FFF0C8"/>
            </a:solidFill>
            <a:prstDash val="solid"/>
          </a:ln>
        </p:spPr>
      </p:sp>
      <p:sp>
        <p:nvSpPr>
          <p:cNvPr id="61" name="Text 59"/>
          <p:cNvSpPr/>
          <p:nvPr/>
        </p:nvSpPr>
        <p:spPr>
          <a:xfrm>
            <a:off x="4517136" y="5879592"/>
            <a:ext cx="3127248" cy="274320"/>
          </a:xfrm>
          <a:prstGeom prst="rect">
            <a:avLst/>
          </a:prstGeom>
          <a:noFill/>
          <a:ln/>
        </p:spPr>
        <p:txBody>
          <a:bodyPr wrap="square" lIns="0" tIns="0" rIns="0" bIns="0" rtlCol="0" anchor="ctr"/>
          <a:lstStyle/>
          <a:p>
            <a:pPr algn="ctr" indent="0" marL="0">
              <a:buNone/>
            </a:pPr>
            <a:r>
              <a:rPr lang="en-US" sz="1050" b="1" dirty="0">
                <a:solidFill>
                  <a:srgbClr val="171B1F"/>
                </a:solidFill>
                <a:latin typeface="Aptos" pitchFamily="34" charset="0"/>
                <a:ea typeface="Aptos" pitchFamily="34" charset="-122"/>
                <a:cs typeface="Aptos" pitchFamily="34" charset="-120"/>
              </a:rPr>
              <a:t>UNVERIFIED STUDY COPY</a:t>
            </a:r>
            <a:endParaRPr lang="en-US" sz="105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11</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RELEASE GATE</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Activate, inspect, attack</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A green owner test is not enough; deliberately test the refusal boundary.</a:t>
            </a:r>
            <a:endParaRPr lang="en-US" sz="1450" dirty="0"/>
          </a:p>
        </p:txBody>
      </p:sp>
      <p:sp>
        <p:nvSpPr>
          <p:cNvPr id="6" name="Shape 4"/>
          <p:cNvSpPr/>
          <p:nvPr/>
        </p:nvSpPr>
        <p:spPr>
          <a:xfrm>
            <a:off x="804672" y="2029968"/>
            <a:ext cx="384048" cy="384048"/>
          </a:xfrm>
          <a:prstGeom prst="ellipse">
            <a:avLst/>
          </a:prstGeom>
          <a:solidFill>
            <a:srgbClr val="229ED9"/>
          </a:solidFill>
          <a:ln w="12700">
            <a:solidFill>
              <a:srgbClr val="229ED9"/>
            </a:solidFill>
            <a:prstDash val="solid"/>
          </a:ln>
        </p:spPr>
      </p:sp>
      <p:sp>
        <p:nvSpPr>
          <p:cNvPr id="7" name="Text 5"/>
          <p:cNvSpPr/>
          <p:nvPr/>
        </p:nvSpPr>
        <p:spPr>
          <a:xfrm>
            <a:off x="804672" y="2039112"/>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6"/>
          <p:cNvSpPr/>
          <p:nvPr/>
        </p:nvSpPr>
        <p:spPr>
          <a:xfrm>
            <a:off x="1444752" y="1938528"/>
            <a:ext cx="2148840" cy="320040"/>
          </a:xfrm>
          <a:prstGeom prst="rect">
            <a:avLst/>
          </a:prstGeom>
          <a:noFill/>
          <a:ln/>
        </p:spPr>
        <p:txBody>
          <a:bodyPr wrap="square" lIns="0" tIns="0" rIns="0" bIns="0" rtlCol="0" anchor="ctr"/>
          <a:lstStyle/>
          <a:p>
            <a:pPr indent="0" marL="0">
              <a:buNone/>
            </a:pPr>
            <a:r>
              <a:rPr lang="en-US" sz="1500" b="1" dirty="0">
                <a:solidFill>
                  <a:srgbClr val="229ED9"/>
                </a:solidFill>
                <a:latin typeface="Aptos" pitchFamily="34" charset="0"/>
                <a:ea typeface="Aptos" pitchFamily="34" charset="-122"/>
                <a:cs typeface="Aptos" pitchFamily="34" charset="-120"/>
              </a:rPr>
              <a:t>WEBHOOK</a:t>
            </a:r>
            <a:endParaRPr lang="en-US" sz="1500" dirty="0"/>
          </a:p>
        </p:txBody>
      </p:sp>
      <p:sp>
        <p:nvSpPr>
          <p:cNvPr id="9" name="Text 7"/>
          <p:cNvSpPr/>
          <p:nvPr/>
        </p:nvSpPr>
        <p:spPr>
          <a:xfrm>
            <a:off x="3730752" y="1938528"/>
            <a:ext cx="5212080" cy="320040"/>
          </a:xfrm>
          <a:prstGeom prst="rect">
            <a:avLst/>
          </a:prstGeom>
          <a:noFill/>
          <a:ln/>
        </p:spPr>
        <p:txBody>
          <a:bodyPr wrap="square" lIns="0" tIns="0" rIns="0" bIns="0" rtlCol="0" anchor="ctr"/>
          <a:lstStyle/>
          <a:p>
            <a:pPr indent="0" marL="0">
              <a:buNone/>
            </a:pPr>
            <a:r>
              <a:rPr lang="en-US" sz="1400" dirty="0">
                <a:solidFill>
                  <a:srgbClr val="171B1F"/>
                </a:solidFill>
                <a:latin typeface="Aptos" pitchFamily="34" charset="0"/>
                <a:ea typeface="Aptos" pitchFamily="34" charset="-122"/>
                <a:cs typeface="Aptos" pitchFamily="34" charset="-120"/>
              </a:rPr>
              <a:t>Expected public HTTPS URL</a:t>
            </a:r>
            <a:endParaRPr lang="en-US" sz="1400" dirty="0"/>
          </a:p>
        </p:txBody>
      </p:sp>
      <p:sp>
        <p:nvSpPr>
          <p:cNvPr id="10" name="Shape 8"/>
          <p:cNvSpPr/>
          <p:nvPr/>
        </p:nvSpPr>
        <p:spPr>
          <a:xfrm>
            <a:off x="9985248" y="1938528"/>
            <a:ext cx="1078992" cy="411480"/>
          </a:xfrm>
          <a:prstGeom prst="roundRect">
            <a:avLst/>
          </a:prstGeom>
          <a:solidFill>
            <a:srgbClr val="DFF3E9"/>
          </a:solidFill>
          <a:ln w="12700">
            <a:solidFill>
              <a:srgbClr val="DFF3E9"/>
            </a:solidFill>
            <a:prstDash val="solid"/>
          </a:ln>
        </p:spPr>
      </p:sp>
      <p:sp>
        <p:nvSpPr>
          <p:cNvPr id="11" name="Text 9"/>
          <p:cNvSpPr/>
          <p:nvPr/>
        </p:nvSpPr>
        <p:spPr>
          <a:xfrm>
            <a:off x="9985248" y="2002536"/>
            <a:ext cx="1078992" cy="274320"/>
          </a:xfrm>
          <a:prstGeom prst="rect">
            <a:avLst/>
          </a:prstGeom>
          <a:noFill/>
          <a:ln/>
        </p:spPr>
        <p:txBody>
          <a:bodyPr wrap="square" lIns="0" tIns="0" rIns="0" bIns="0" rtlCol="0" anchor="ctr"/>
          <a:lstStyle/>
          <a:p>
            <a:pPr algn="ctr" indent="0" marL="0">
              <a:buNone/>
            </a:pPr>
            <a:r>
              <a:rPr lang="en-US" sz="1150" b="1" dirty="0">
                <a:solidFill>
                  <a:srgbClr val="2EA76F"/>
                </a:solidFill>
                <a:latin typeface="Aptos" pitchFamily="34" charset="0"/>
                <a:ea typeface="Aptos" pitchFamily="34" charset="-122"/>
                <a:cs typeface="Aptos" pitchFamily="34" charset="-120"/>
              </a:rPr>
              <a:t>PASS</a:t>
            </a:r>
            <a:endParaRPr lang="en-US" sz="1150" dirty="0"/>
          </a:p>
        </p:txBody>
      </p:sp>
      <p:sp>
        <p:nvSpPr>
          <p:cNvPr id="12" name="Shape 10"/>
          <p:cNvSpPr/>
          <p:nvPr/>
        </p:nvSpPr>
        <p:spPr>
          <a:xfrm>
            <a:off x="996696" y="2423160"/>
            <a:ext cx="0" cy="475488"/>
          </a:xfrm>
          <a:prstGeom prst="line">
            <a:avLst/>
          </a:prstGeom>
          <a:noFill/>
          <a:ln w="25400">
            <a:solidFill>
              <a:srgbClr val="D8D4CC"/>
            </a:solidFill>
            <a:prstDash val="solid"/>
          </a:ln>
        </p:spPr>
      </p:sp>
      <p:sp>
        <p:nvSpPr>
          <p:cNvPr id="13" name="Shape 11"/>
          <p:cNvSpPr/>
          <p:nvPr/>
        </p:nvSpPr>
        <p:spPr>
          <a:xfrm>
            <a:off x="804672" y="2980944"/>
            <a:ext cx="384048" cy="384048"/>
          </a:xfrm>
          <a:prstGeom prst="ellipse">
            <a:avLst/>
          </a:prstGeom>
          <a:solidFill>
            <a:srgbClr val="2EA76F"/>
          </a:solidFill>
          <a:ln w="12700">
            <a:solidFill>
              <a:srgbClr val="2EA76F"/>
            </a:solidFill>
            <a:prstDash val="solid"/>
          </a:ln>
        </p:spPr>
      </p:sp>
      <p:sp>
        <p:nvSpPr>
          <p:cNvPr id="14" name="Text 12"/>
          <p:cNvSpPr/>
          <p:nvPr/>
        </p:nvSpPr>
        <p:spPr>
          <a:xfrm>
            <a:off x="804672" y="2990088"/>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5" name="Text 13"/>
          <p:cNvSpPr/>
          <p:nvPr/>
        </p:nvSpPr>
        <p:spPr>
          <a:xfrm>
            <a:off x="1444752" y="2889504"/>
            <a:ext cx="2148840" cy="320040"/>
          </a:xfrm>
          <a:prstGeom prst="rect">
            <a:avLst/>
          </a:prstGeom>
          <a:noFill/>
          <a:ln/>
        </p:spPr>
        <p:txBody>
          <a:bodyPr wrap="square" lIns="0" tIns="0" rIns="0" bIns="0" rtlCol="0" anchor="ctr"/>
          <a:lstStyle/>
          <a:p>
            <a:pPr indent="0" marL="0">
              <a:buNone/>
            </a:pPr>
            <a:r>
              <a:rPr lang="en-US" sz="1500" b="1" dirty="0">
                <a:solidFill>
                  <a:srgbClr val="2EA76F"/>
                </a:solidFill>
                <a:latin typeface="Aptos" pitchFamily="34" charset="0"/>
                <a:ea typeface="Aptos" pitchFamily="34" charset="-122"/>
                <a:cs typeface="Aptos" pitchFamily="34" charset="-120"/>
              </a:rPr>
              <a:t>OWNER TEXT</a:t>
            </a:r>
            <a:endParaRPr lang="en-US" sz="1500" dirty="0"/>
          </a:p>
        </p:txBody>
      </p:sp>
      <p:sp>
        <p:nvSpPr>
          <p:cNvPr id="16" name="Text 14"/>
          <p:cNvSpPr/>
          <p:nvPr/>
        </p:nvSpPr>
        <p:spPr>
          <a:xfrm>
            <a:off x="3730752" y="2889504"/>
            <a:ext cx="5212080" cy="320040"/>
          </a:xfrm>
          <a:prstGeom prst="rect">
            <a:avLst/>
          </a:prstGeom>
          <a:noFill/>
          <a:ln/>
        </p:spPr>
        <p:txBody>
          <a:bodyPr wrap="square" lIns="0" tIns="0" rIns="0" bIns="0" rtlCol="0" anchor="ctr"/>
          <a:lstStyle/>
          <a:p>
            <a:pPr indent="0" marL="0">
              <a:buNone/>
            </a:pPr>
            <a:r>
              <a:rPr lang="en-US" sz="1400" dirty="0">
                <a:solidFill>
                  <a:srgbClr val="171B1F"/>
                </a:solidFill>
                <a:latin typeface="Aptos" pitchFamily="34" charset="0"/>
                <a:ea typeface="Aptos" pitchFamily="34" charset="-122"/>
                <a:cs typeface="Aptos" pitchFamily="34" charset="-120"/>
              </a:rPr>
              <a:t>Grounded answer or honest refusal</a:t>
            </a:r>
            <a:endParaRPr lang="en-US" sz="1400" dirty="0"/>
          </a:p>
        </p:txBody>
      </p:sp>
      <p:sp>
        <p:nvSpPr>
          <p:cNvPr id="17" name="Shape 15"/>
          <p:cNvSpPr/>
          <p:nvPr/>
        </p:nvSpPr>
        <p:spPr>
          <a:xfrm>
            <a:off x="9985248" y="2889504"/>
            <a:ext cx="1078992" cy="411480"/>
          </a:xfrm>
          <a:prstGeom prst="roundRect">
            <a:avLst/>
          </a:prstGeom>
          <a:solidFill>
            <a:srgbClr val="DFF3E9"/>
          </a:solidFill>
          <a:ln w="12700">
            <a:solidFill>
              <a:srgbClr val="DFF3E9"/>
            </a:solidFill>
            <a:prstDash val="solid"/>
          </a:ln>
        </p:spPr>
      </p:sp>
      <p:sp>
        <p:nvSpPr>
          <p:cNvPr id="18" name="Text 16"/>
          <p:cNvSpPr/>
          <p:nvPr/>
        </p:nvSpPr>
        <p:spPr>
          <a:xfrm>
            <a:off x="9985248" y="2953512"/>
            <a:ext cx="1078992" cy="274320"/>
          </a:xfrm>
          <a:prstGeom prst="rect">
            <a:avLst/>
          </a:prstGeom>
          <a:noFill/>
          <a:ln/>
        </p:spPr>
        <p:txBody>
          <a:bodyPr wrap="square" lIns="0" tIns="0" rIns="0" bIns="0" rtlCol="0" anchor="ctr"/>
          <a:lstStyle/>
          <a:p>
            <a:pPr algn="ctr" indent="0" marL="0">
              <a:buNone/>
            </a:pPr>
            <a:r>
              <a:rPr lang="en-US" sz="1150" b="1" dirty="0">
                <a:solidFill>
                  <a:srgbClr val="2EA76F"/>
                </a:solidFill>
                <a:latin typeface="Aptos" pitchFamily="34" charset="0"/>
                <a:ea typeface="Aptos" pitchFamily="34" charset="-122"/>
                <a:cs typeface="Aptos" pitchFamily="34" charset="-120"/>
              </a:rPr>
              <a:t>PASS</a:t>
            </a:r>
            <a:endParaRPr lang="en-US" sz="1150" dirty="0"/>
          </a:p>
        </p:txBody>
      </p:sp>
      <p:sp>
        <p:nvSpPr>
          <p:cNvPr id="19" name="Shape 17"/>
          <p:cNvSpPr/>
          <p:nvPr/>
        </p:nvSpPr>
        <p:spPr>
          <a:xfrm>
            <a:off x="996696" y="3374136"/>
            <a:ext cx="0" cy="475488"/>
          </a:xfrm>
          <a:prstGeom prst="line">
            <a:avLst/>
          </a:prstGeom>
          <a:noFill/>
          <a:ln w="25400">
            <a:solidFill>
              <a:srgbClr val="D8D4CC"/>
            </a:solidFill>
            <a:prstDash val="solid"/>
          </a:ln>
        </p:spPr>
      </p:sp>
      <p:sp>
        <p:nvSpPr>
          <p:cNvPr id="20" name="Shape 18"/>
          <p:cNvSpPr/>
          <p:nvPr/>
        </p:nvSpPr>
        <p:spPr>
          <a:xfrm>
            <a:off x="804672" y="3931920"/>
            <a:ext cx="384048" cy="384048"/>
          </a:xfrm>
          <a:prstGeom prst="ellipse">
            <a:avLst/>
          </a:prstGeom>
          <a:solidFill>
            <a:srgbClr val="2EA76F"/>
          </a:solidFill>
          <a:ln w="12700">
            <a:solidFill>
              <a:srgbClr val="2EA76F"/>
            </a:solidFill>
            <a:prstDash val="solid"/>
          </a:ln>
        </p:spPr>
      </p:sp>
      <p:sp>
        <p:nvSpPr>
          <p:cNvPr id="21" name="Text 19"/>
          <p:cNvSpPr/>
          <p:nvPr/>
        </p:nvSpPr>
        <p:spPr>
          <a:xfrm>
            <a:off x="804672" y="3941064"/>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20"/>
          <p:cNvSpPr/>
          <p:nvPr/>
        </p:nvSpPr>
        <p:spPr>
          <a:xfrm>
            <a:off x="1444752" y="3840480"/>
            <a:ext cx="2148840" cy="320040"/>
          </a:xfrm>
          <a:prstGeom prst="rect">
            <a:avLst/>
          </a:prstGeom>
          <a:noFill/>
          <a:ln/>
        </p:spPr>
        <p:txBody>
          <a:bodyPr wrap="square" lIns="0" tIns="0" rIns="0" bIns="0" rtlCol="0" anchor="ctr"/>
          <a:lstStyle/>
          <a:p>
            <a:pPr indent="0" marL="0">
              <a:buNone/>
            </a:pPr>
            <a:r>
              <a:rPr lang="en-US" sz="1500" b="1" dirty="0">
                <a:solidFill>
                  <a:srgbClr val="2EA76F"/>
                </a:solidFill>
                <a:latin typeface="Aptos" pitchFamily="34" charset="0"/>
                <a:ea typeface="Aptos" pitchFamily="34" charset="-122"/>
                <a:cs typeface="Aptos" pitchFamily="34" charset="-120"/>
              </a:rPr>
              <a:t>OWNER VOICE</a:t>
            </a:r>
            <a:endParaRPr lang="en-US" sz="1500" dirty="0"/>
          </a:p>
        </p:txBody>
      </p:sp>
      <p:sp>
        <p:nvSpPr>
          <p:cNvPr id="23" name="Text 21"/>
          <p:cNvSpPr/>
          <p:nvPr/>
        </p:nvSpPr>
        <p:spPr>
          <a:xfrm>
            <a:off x="3730752" y="3840480"/>
            <a:ext cx="5212080" cy="320040"/>
          </a:xfrm>
          <a:prstGeom prst="rect">
            <a:avLst/>
          </a:prstGeom>
          <a:noFill/>
          <a:ln/>
        </p:spPr>
        <p:txBody>
          <a:bodyPr wrap="square" lIns="0" tIns="0" rIns="0" bIns="0" rtlCol="0" anchor="ctr"/>
          <a:lstStyle/>
          <a:p>
            <a:pPr indent="0" marL="0">
              <a:buNone/>
            </a:pPr>
            <a:r>
              <a:rPr lang="en-US" sz="1400" dirty="0">
                <a:solidFill>
                  <a:srgbClr val="171B1F"/>
                </a:solidFill>
                <a:latin typeface="Aptos" pitchFamily="34" charset="0"/>
                <a:ea typeface="Aptos" pitchFamily="34" charset="-122"/>
                <a:cs typeface="Aptos" pitchFamily="34" charset="-120"/>
              </a:rPr>
              <a:t>Playable Telegram voice bubble</a:t>
            </a:r>
            <a:endParaRPr lang="en-US" sz="1400" dirty="0"/>
          </a:p>
        </p:txBody>
      </p:sp>
      <p:sp>
        <p:nvSpPr>
          <p:cNvPr id="24" name="Shape 22"/>
          <p:cNvSpPr/>
          <p:nvPr/>
        </p:nvSpPr>
        <p:spPr>
          <a:xfrm>
            <a:off x="9985248" y="3840480"/>
            <a:ext cx="1078992" cy="411480"/>
          </a:xfrm>
          <a:prstGeom prst="roundRect">
            <a:avLst/>
          </a:prstGeom>
          <a:solidFill>
            <a:srgbClr val="DFF3E9"/>
          </a:solidFill>
          <a:ln w="12700">
            <a:solidFill>
              <a:srgbClr val="DFF3E9"/>
            </a:solidFill>
            <a:prstDash val="solid"/>
          </a:ln>
        </p:spPr>
      </p:sp>
      <p:sp>
        <p:nvSpPr>
          <p:cNvPr id="25" name="Text 23"/>
          <p:cNvSpPr/>
          <p:nvPr/>
        </p:nvSpPr>
        <p:spPr>
          <a:xfrm>
            <a:off x="9985248" y="3904488"/>
            <a:ext cx="1078992" cy="274320"/>
          </a:xfrm>
          <a:prstGeom prst="rect">
            <a:avLst/>
          </a:prstGeom>
          <a:noFill/>
          <a:ln/>
        </p:spPr>
        <p:txBody>
          <a:bodyPr wrap="square" lIns="0" tIns="0" rIns="0" bIns="0" rtlCol="0" anchor="ctr"/>
          <a:lstStyle/>
          <a:p>
            <a:pPr algn="ctr" indent="0" marL="0">
              <a:buNone/>
            </a:pPr>
            <a:r>
              <a:rPr lang="en-US" sz="1150" b="1" dirty="0">
                <a:solidFill>
                  <a:srgbClr val="2EA76F"/>
                </a:solidFill>
                <a:latin typeface="Aptos" pitchFamily="34" charset="0"/>
                <a:ea typeface="Aptos" pitchFamily="34" charset="-122"/>
                <a:cs typeface="Aptos" pitchFamily="34" charset="-120"/>
              </a:rPr>
              <a:t>PASS</a:t>
            </a:r>
            <a:endParaRPr lang="en-US" sz="1150" dirty="0"/>
          </a:p>
        </p:txBody>
      </p:sp>
      <p:sp>
        <p:nvSpPr>
          <p:cNvPr id="26" name="Shape 24"/>
          <p:cNvSpPr/>
          <p:nvPr/>
        </p:nvSpPr>
        <p:spPr>
          <a:xfrm>
            <a:off x="996696" y="4325112"/>
            <a:ext cx="0" cy="475488"/>
          </a:xfrm>
          <a:prstGeom prst="line">
            <a:avLst/>
          </a:prstGeom>
          <a:noFill/>
          <a:ln w="25400">
            <a:solidFill>
              <a:srgbClr val="D8D4CC"/>
            </a:solidFill>
            <a:prstDash val="solid"/>
          </a:ln>
        </p:spPr>
      </p:sp>
      <p:sp>
        <p:nvSpPr>
          <p:cNvPr id="27" name="Shape 25"/>
          <p:cNvSpPr/>
          <p:nvPr/>
        </p:nvSpPr>
        <p:spPr>
          <a:xfrm>
            <a:off x="804672" y="4882896"/>
            <a:ext cx="384048" cy="384048"/>
          </a:xfrm>
          <a:prstGeom prst="ellipse">
            <a:avLst/>
          </a:prstGeom>
          <a:solidFill>
            <a:srgbClr val="FF6B57"/>
          </a:solidFill>
          <a:ln w="12700">
            <a:solidFill>
              <a:srgbClr val="FF6B57"/>
            </a:solidFill>
            <a:prstDash val="solid"/>
          </a:ln>
        </p:spPr>
      </p:sp>
      <p:sp>
        <p:nvSpPr>
          <p:cNvPr id="28" name="Text 26"/>
          <p:cNvSpPr/>
          <p:nvPr/>
        </p:nvSpPr>
        <p:spPr>
          <a:xfrm>
            <a:off x="804672" y="4892040"/>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9" name="Text 27"/>
          <p:cNvSpPr/>
          <p:nvPr/>
        </p:nvSpPr>
        <p:spPr>
          <a:xfrm>
            <a:off x="1444752" y="4791456"/>
            <a:ext cx="2148840" cy="320040"/>
          </a:xfrm>
          <a:prstGeom prst="rect">
            <a:avLst/>
          </a:prstGeom>
          <a:noFill/>
          <a:ln/>
        </p:spPr>
        <p:txBody>
          <a:bodyPr wrap="square" lIns="0" tIns="0" rIns="0" bIns="0" rtlCol="0" anchor="ctr"/>
          <a:lstStyle/>
          <a:p>
            <a:pPr indent="0" marL="0">
              <a:buNone/>
            </a:pPr>
            <a:r>
              <a:rPr lang="en-US" sz="1500" b="1" dirty="0">
                <a:solidFill>
                  <a:srgbClr val="FF6B57"/>
                </a:solidFill>
                <a:latin typeface="Aptos" pitchFamily="34" charset="0"/>
                <a:ea typeface="Aptos" pitchFamily="34" charset="-122"/>
                <a:cs typeface="Aptos" pitchFamily="34" charset="-120"/>
              </a:rPr>
              <a:t>SECOND ACCOUNT</a:t>
            </a:r>
            <a:endParaRPr lang="en-US" sz="1500" dirty="0"/>
          </a:p>
        </p:txBody>
      </p:sp>
      <p:sp>
        <p:nvSpPr>
          <p:cNvPr id="30" name="Text 28"/>
          <p:cNvSpPr/>
          <p:nvPr/>
        </p:nvSpPr>
        <p:spPr>
          <a:xfrm>
            <a:off x="3730752" y="4791456"/>
            <a:ext cx="5212080" cy="320040"/>
          </a:xfrm>
          <a:prstGeom prst="rect">
            <a:avLst/>
          </a:prstGeom>
          <a:noFill/>
          <a:ln/>
        </p:spPr>
        <p:txBody>
          <a:bodyPr wrap="square" lIns="0" tIns="0" rIns="0" bIns="0" rtlCol="0" anchor="ctr"/>
          <a:lstStyle/>
          <a:p>
            <a:pPr indent="0" marL="0">
              <a:buNone/>
            </a:pPr>
            <a:r>
              <a:rPr lang="en-US" sz="1400" dirty="0">
                <a:solidFill>
                  <a:srgbClr val="171B1F"/>
                </a:solidFill>
                <a:latin typeface="Aptos" pitchFamily="34" charset="0"/>
                <a:ea typeface="Aptos" pitchFamily="34" charset="-122"/>
                <a:cs typeface="Aptos" pitchFamily="34" charset="-120"/>
              </a:rPr>
              <a:t>Silence; no downstream AI nodes</a:t>
            </a:r>
            <a:endParaRPr lang="en-US" sz="1400" dirty="0"/>
          </a:p>
        </p:txBody>
      </p:sp>
      <p:sp>
        <p:nvSpPr>
          <p:cNvPr id="31" name="Shape 29"/>
          <p:cNvSpPr/>
          <p:nvPr/>
        </p:nvSpPr>
        <p:spPr>
          <a:xfrm>
            <a:off x="9985248" y="4791456"/>
            <a:ext cx="1078992" cy="411480"/>
          </a:xfrm>
          <a:prstGeom prst="roundRect">
            <a:avLst/>
          </a:prstGeom>
          <a:solidFill>
            <a:srgbClr val="DFF3E9"/>
          </a:solidFill>
          <a:ln w="12700">
            <a:solidFill>
              <a:srgbClr val="DFF3E9"/>
            </a:solidFill>
            <a:prstDash val="solid"/>
          </a:ln>
        </p:spPr>
      </p:sp>
      <p:sp>
        <p:nvSpPr>
          <p:cNvPr id="32" name="Text 30"/>
          <p:cNvSpPr/>
          <p:nvPr/>
        </p:nvSpPr>
        <p:spPr>
          <a:xfrm>
            <a:off x="9985248" y="4855464"/>
            <a:ext cx="1078992" cy="274320"/>
          </a:xfrm>
          <a:prstGeom prst="rect">
            <a:avLst/>
          </a:prstGeom>
          <a:noFill/>
          <a:ln/>
        </p:spPr>
        <p:txBody>
          <a:bodyPr wrap="square" lIns="0" tIns="0" rIns="0" bIns="0" rtlCol="0" anchor="ctr"/>
          <a:lstStyle/>
          <a:p>
            <a:pPr algn="ctr" indent="0" marL="0">
              <a:buNone/>
            </a:pPr>
            <a:r>
              <a:rPr lang="en-US" sz="1150" b="1" dirty="0">
                <a:solidFill>
                  <a:srgbClr val="2EA76F"/>
                </a:solidFill>
                <a:latin typeface="Aptos" pitchFamily="34" charset="0"/>
                <a:ea typeface="Aptos" pitchFamily="34" charset="-122"/>
                <a:cs typeface="Aptos" pitchFamily="34" charset="-120"/>
              </a:rPr>
              <a:t>PASS</a:t>
            </a:r>
            <a:endParaRPr lang="en-US" sz="1150" dirty="0"/>
          </a:p>
        </p:txBody>
      </p:sp>
      <p:sp>
        <p:nvSpPr>
          <p:cNvPr id="33" name="Shape 31"/>
          <p:cNvSpPr/>
          <p:nvPr/>
        </p:nvSpPr>
        <p:spPr>
          <a:xfrm>
            <a:off x="804672" y="5833872"/>
            <a:ext cx="10259568" cy="393192"/>
          </a:xfrm>
          <a:prstGeom prst="rect">
            <a:avLst/>
          </a:prstGeom>
          <a:solidFill>
            <a:srgbClr val="FFE5DF"/>
          </a:solidFill>
          <a:ln w="12700">
            <a:solidFill>
              <a:srgbClr val="FFE5DF"/>
            </a:solidFill>
            <a:prstDash val="solid"/>
          </a:ln>
        </p:spPr>
      </p:sp>
      <p:sp>
        <p:nvSpPr>
          <p:cNvPr id="34" name="Text 32"/>
          <p:cNvSpPr/>
          <p:nvPr/>
        </p:nvSpPr>
        <p:spPr>
          <a:xfrm>
            <a:off x="1042416" y="5888736"/>
            <a:ext cx="9784080" cy="256032"/>
          </a:xfrm>
          <a:prstGeom prst="rect">
            <a:avLst/>
          </a:prstGeom>
          <a:noFill/>
          <a:ln/>
        </p:spPr>
        <p:txBody>
          <a:bodyPr wrap="square" lIns="0" tIns="0" rIns="0" bIns="0" rtlCol="0" anchor="ctr"/>
          <a:lstStyle/>
          <a:p>
            <a:pPr algn="ctr" indent="0" marL="0">
              <a:buNone/>
            </a:pPr>
            <a:r>
              <a:rPr lang="en-US" sz="1300" b="1" dirty="0">
                <a:solidFill>
                  <a:srgbClr val="C83F49"/>
                </a:solidFill>
                <a:latin typeface="Aptos" pitchFamily="34" charset="0"/>
                <a:ea typeface="Aptos" pitchFamily="34" charset="-122"/>
                <a:cs typeface="Aptos" pitchFamily="34" charset="-120"/>
              </a:rPr>
              <a:t>If the second account gets any answer: deactivate immediately.</a:t>
            </a:r>
            <a:endParaRPr lang="en-US" sz="130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438912" cy="274320"/>
          </a:xfrm>
          <a:prstGeom prst="rect">
            <a:avLst/>
          </a:prstGeom>
          <a:noFill/>
          <a:ln/>
        </p:spPr>
        <p:txBody>
          <a:bodyPr wrap="square" lIns="0" tIns="0" rIns="0" bIns="0" rtlCol="0" anchor="ctr"/>
          <a:lstStyle/>
          <a:p>
            <a:pPr indent="0" marL="0">
              <a:buNone/>
            </a:pPr>
            <a:r>
              <a:rPr lang="en-US" sz="1300" b="1" dirty="0">
                <a:solidFill>
                  <a:srgbClr val="229ED9"/>
                </a:solidFill>
                <a:latin typeface="Aptos" pitchFamily="34" charset="0"/>
                <a:ea typeface="Aptos" pitchFamily="34" charset="-122"/>
                <a:cs typeface="Aptos" pitchFamily="34" charset="-120"/>
              </a:rPr>
              <a:t>12</a:t>
            </a:r>
            <a:endParaRPr lang="en-US" sz="1300" dirty="0"/>
          </a:p>
        </p:txBody>
      </p:sp>
      <p:sp>
        <p:nvSpPr>
          <p:cNvPr id="3" name="Text 1"/>
          <p:cNvSpPr/>
          <p:nvPr/>
        </p:nvSpPr>
        <p:spPr>
          <a:xfrm>
            <a:off x="1078992" y="384048"/>
            <a:ext cx="3383280" cy="274320"/>
          </a:xfrm>
          <a:prstGeom prst="rect">
            <a:avLst/>
          </a:prstGeom>
          <a:noFill/>
          <a:ln/>
        </p:spPr>
        <p:txBody>
          <a:bodyPr wrap="square" lIns="0" tIns="0" rIns="0" bIns="0" rtlCol="0" anchor="ctr"/>
          <a:lstStyle/>
          <a:p>
            <a:pPr indent="0" marL="0">
              <a:buNone/>
            </a:pPr>
            <a:r>
              <a:rPr lang="en-US" sz="1100" b="1" spc="150" kern="0" dirty="0">
                <a:solidFill>
                  <a:srgbClr val="6F736F"/>
                </a:solidFill>
                <a:latin typeface="Aptos" pitchFamily="34" charset="0"/>
                <a:ea typeface="Aptos" pitchFamily="34" charset="-122"/>
                <a:cs typeface="Aptos" pitchFamily="34" charset="-120"/>
              </a:rPr>
              <a:t>TROUBLESHOOTING</a:t>
            </a:r>
            <a:endParaRPr lang="en-US" sz="1100" dirty="0"/>
          </a:p>
        </p:txBody>
      </p:sp>
      <p:sp>
        <p:nvSpPr>
          <p:cNvPr id="4" name="Text 2"/>
          <p:cNvSpPr/>
          <p:nvPr/>
        </p:nvSpPr>
        <p:spPr>
          <a:xfrm>
            <a:off x="566928" y="859536"/>
            <a:ext cx="10972800" cy="530352"/>
          </a:xfrm>
          <a:prstGeom prst="rect">
            <a:avLst/>
          </a:prstGeom>
          <a:noFill/>
          <a:ln/>
        </p:spPr>
        <p:txBody>
          <a:bodyPr wrap="square" lIns="0" tIns="0" rIns="0" bIns="0" rtlCol="0" anchor="ctr"/>
          <a:lstStyle/>
          <a:p>
            <a:pPr indent="0" marL="0">
              <a:buNone/>
            </a:pPr>
            <a:r>
              <a:rPr lang="en-US" sz="3100" b="1" dirty="0">
                <a:solidFill>
                  <a:srgbClr val="171B1F"/>
                </a:solidFill>
                <a:latin typeface="Aptos Display" pitchFamily="34" charset="0"/>
                <a:ea typeface="Aptos Display" pitchFamily="34" charset="-122"/>
                <a:cs typeface="Aptos Display" pitchFamily="34" charset="-120"/>
              </a:rPr>
              <a:t>The status code tells you where to look</a:t>
            </a:r>
            <a:endParaRPr lang="en-US" sz="3100" dirty="0"/>
          </a:p>
        </p:txBody>
      </p:sp>
      <p:sp>
        <p:nvSpPr>
          <p:cNvPr id="5" name="Text 3"/>
          <p:cNvSpPr/>
          <p:nvPr/>
        </p:nvSpPr>
        <p:spPr>
          <a:xfrm>
            <a:off x="566928" y="1426464"/>
            <a:ext cx="10789920" cy="347472"/>
          </a:xfrm>
          <a:prstGeom prst="rect">
            <a:avLst/>
          </a:prstGeom>
          <a:noFill/>
          <a:ln/>
        </p:spPr>
        <p:txBody>
          <a:bodyPr wrap="square" lIns="0" tIns="0" rIns="0" bIns="0" rtlCol="0" anchor="ctr"/>
          <a:lstStyle/>
          <a:p>
            <a:pPr indent="0" marL="0">
              <a:buNone/>
            </a:pPr>
            <a:r>
              <a:rPr lang="en-US" sz="1450" dirty="0">
                <a:solidFill>
                  <a:srgbClr val="6F736F"/>
                </a:solidFill>
                <a:latin typeface="Aptos" pitchFamily="34" charset="0"/>
                <a:ea typeface="Aptos" pitchFamily="34" charset="-122"/>
                <a:cs typeface="Aptos" pitchFamily="34" charset="-120"/>
              </a:rPr>
              <a:t>Do not rotate tokens or rebuild nodes until the failing boundary is identified.</a:t>
            </a:r>
            <a:endParaRPr lang="en-US" sz="1450" dirty="0"/>
          </a:p>
        </p:txBody>
      </p:sp>
      <p:sp>
        <p:nvSpPr>
          <p:cNvPr id="6" name="Text 4"/>
          <p:cNvSpPr/>
          <p:nvPr/>
        </p:nvSpPr>
        <p:spPr>
          <a:xfrm>
            <a:off x="804672" y="1920240"/>
            <a:ext cx="987552" cy="256032"/>
          </a:xfrm>
          <a:prstGeom prst="rect">
            <a:avLst/>
          </a:prstGeom>
          <a:noFill/>
          <a:ln/>
        </p:spPr>
        <p:txBody>
          <a:bodyPr wrap="square" lIns="0" tIns="0" rIns="0" bIns="0" rtlCol="0" anchor="ctr"/>
          <a:lstStyle/>
          <a:p>
            <a:pPr indent="0" marL="0">
              <a:buNone/>
            </a:pPr>
            <a:r>
              <a:rPr lang="en-US" sz="1050" b="1" dirty="0">
                <a:solidFill>
                  <a:srgbClr val="6F736F"/>
                </a:solidFill>
                <a:latin typeface="Aptos" pitchFamily="34" charset="0"/>
                <a:ea typeface="Aptos" pitchFamily="34" charset="-122"/>
                <a:cs typeface="Aptos" pitchFamily="34" charset="-120"/>
              </a:rPr>
              <a:t>SIGNAL</a:t>
            </a:r>
            <a:endParaRPr lang="en-US" sz="1050" dirty="0"/>
          </a:p>
        </p:txBody>
      </p:sp>
      <p:sp>
        <p:nvSpPr>
          <p:cNvPr id="7" name="Text 5"/>
          <p:cNvSpPr/>
          <p:nvPr/>
        </p:nvSpPr>
        <p:spPr>
          <a:xfrm>
            <a:off x="1965960" y="1920240"/>
            <a:ext cx="1508760" cy="256032"/>
          </a:xfrm>
          <a:prstGeom prst="rect">
            <a:avLst/>
          </a:prstGeom>
          <a:noFill/>
          <a:ln/>
        </p:spPr>
        <p:txBody>
          <a:bodyPr wrap="square" lIns="0" tIns="0" rIns="0" bIns="0" rtlCol="0" anchor="ctr"/>
          <a:lstStyle/>
          <a:p>
            <a:pPr indent="0" marL="0">
              <a:buNone/>
            </a:pPr>
            <a:r>
              <a:rPr lang="en-US" sz="1050" b="1" dirty="0">
                <a:solidFill>
                  <a:srgbClr val="6F736F"/>
                </a:solidFill>
                <a:latin typeface="Aptos" pitchFamily="34" charset="0"/>
                <a:ea typeface="Aptos" pitchFamily="34" charset="-122"/>
                <a:cs typeface="Aptos" pitchFamily="34" charset="-120"/>
              </a:rPr>
              <a:t>BOUNDARY</a:t>
            </a:r>
            <a:endParaRPr lang="en-US" sz="1050" dirty="0"/>
          </a:p>
        </p:txBody>
      </p:sp>
      <p:sp>
        <p:nvSpPr>
          <p:cNvPr id="8" name="Text 6"/>
          <p:cNvSpPr/>
          <p:nvPr/>
        </p:nvSpPr>
        <p:spPr>
          <a:xfrm>
            <a:off x="3822192" y="1920240"/>
            <a:ext cx="2880360" cy="256032"/>
          </a:xfrm>
          <a:prstGeom prst="rect">
            <a:avLst/>
          </a:prstGeom>
          <a:noFill/>
          <a:ln/>
        </p:spPr>
        <p:txBody>
          <a:bodyPr wrap="square" lIns="0" tIns="0" rIns="0" bIns="0" rtlCol="0" anchor="ctr"/>
          <a:lstStyle/>
          <a:p>
            <a:pPr indent="0" marL="0">
              <a:buNone/>
            </a:pPr>
            <a:r>
              <a:rPr lang="en-US" sz="1050" b="1" dirty="0">
                <a:solidFill>
                  <a:srgbClr val="6F736F"/>
                </a:solidFill>
                <a:latin typeface="Aptos" pitchFamily="34" charset="0"/>
                <a:ea typeface="Aptos" pitchFamily="34" charset="-122"/>
                <a:cs typeface="Aptos" pitchFamily="34" charset="-120"/>
              </a:rPr>
              <a:t>MEANING</a:t>
            </a:r>
            <a:endParaRPr lang="en-US" sz="1050" dirty="0"/>
          </a:p>
        </p:txBody>
      </p:sp>
      <p:sp>
        <p:nvSpPr>
          <p:cNvPr id="9" name="Text 7"/>
          <p:cNvSpPr/>
          <p:nvPr/>
        </p:nvSpPr>
        <p:spPr>
          <a:xfrm>
            <a:off x="7360920" y="1920240"/>
            <a:ext cx="3520440" cy="256032"/>
          </a:xfrm>
          <a:prstGeom prst="rect">
            <a:avLst/>
          </a:prstGeom>
          <a:noFill/>
          <a:ln/>
        </p:spPr>
        <p:txBody>
          <a:bodyPr wrap="square" lIns="0" tIns="0" rIns="0" bIns="0" rtlCol="0" anchor="ctr"/>
          <a:lstStyle/>
          <a:p>
            <a:pPr indent="0" marL="0">
              <a:buNone/>
            </a:pPr>
            <a:r>
              <a:rPr lang="en-US" sz="1050" b="1" dirty="0">
                <a:solidFill>
                  <a:srgbClr val="6F736F"/>
                </a:solidFill>
                <a:latin typeface="Aptos" pitchFamily="34" charset="0"/>
                <a:ea typeface="Aptos" pitchFamily="34" charset="-122"/>
                <a:cs typeface="Aptos" pitchFamily="34" charset="-120"/>
              </a:rPr>
              <a:t>NEXT MOVE</a:t>
            </a:r>
            <a:endParaRPr lang="en-US" sz="1050" dirty="0"/>
          </a:p>
        </p:txBody>
      </p:sp>
      <p:sp>
        <p:nvSpPr>
          <p:cNvPr id="10" name="Shape 8"/>
          <p:cNvSpPr/>
          <p:nvPr/>
        </p:nvSpPr>
        <p:spPr>
          <a:xfrm>
            <a:off x="713232" y="2322576"/>
            <a:ext cx="10652760" cy="548640"/>
          </a:xfrm>
          <a:prstGeom prst="rect">
            <a:avLst/>
          </a:prstGeom>
          <a:solidFill>
            <a:srgbClr val="ECE9E2"/>
          </a:solidFill>
          <a:ln w="12700">
            <a:solidFill>
              <a:srgbClr val="ECE9E2"/>
            </a:solidFill>
            <a:prstDash val="solid"/>
          </a:ln>
        </p:spPr>
      </p:sp>
      <p:sp>
        <p:nvSpPr>
          <p:cNvPr id="11" name="Shape 9"/>
          <p:cNvSpPr/>
          <p:nvPr/>
        </p:nvSpPr>
        <p:spPr>
          <a:xfrm>
            <a:off x="877824" y="2441448"/>
            <a:ext cx="758952" cy="310896"/>
          </a:xfrm>
          <a:prstGeom prst="roundRect">
            <a:avLst/>
          </a:prstGeom>
          <a:solidFill>
            <a:srgbClr val="E8B84A"/>
          </a:solidFill>
          <a:ln w="12700">
            <a:solidFill>
              <a:srgbClr val="E8B84A"/>
            </a:solidFill>
            <a:prstDash val="solid"/>
          </a:ln>
        </p:spPr>
      </p:sp>
      <p:sp>
        <p:nvSpPr>
          <p:cNvPr id="12" name="Text 10"/>
          <p:cNvSpPr/>
          <p:nvPr/>
        </p:nvSpPr>
        <p:spPr>
          <a:xfrm>
            <a:off x="950976" y="2450592"/>
            <a:ext cx="612648" cy="274320"/>
          </a:xfrm>
          <a:prstGeom prst="rect">
            <a:avLst/>
          </a:prstGeom>
          <a:noFill/>
          <a:ln/>
        </p:spPr>
        <p:txBody>
          <a:bodyPr wrap="square" lIns="0" tIns="0" rIns="0" bIns="0" rtlCol="0" anchor="ctr"/>
          <a:lstStyle/>
          <a:p>
            <a:pPr algn="ctr" indent="0" marL="0">
              <a:buNone/>
            </a:pPr>
            <a:r>
              <a:rPr lang="en-US" sz="1050" b="1" dirty="0">
                <a:solidFill>
                  <a:srgbClr val="171B1F"/>
                </a:solidFill>
                <a:latin typeface="Aptos" pitchFamily="34" charset="0"/>
                <a:ea typeface="Aptos" pitchFamily="34" charset="-122"/>
                <a:cs typeface="Aptos" pitchFamily="34" charset="-120"/>
              </a:rPr>
              <a:t>409</a:t>
            </a:r>
            <a:endParaRPr lang="en-US" sz="1050" dirty="0"/>
          </a:p>
        </p:txBody>
      </p:sp>
      <p:sp>
        <p:nvSpPr>
          <p:cNvPr id="13" name="Text 11"/>
          <p:cNvSpPr/>
          <p:nvPr/>
        </p:nvSpPr>
        <p:spPr>
          <a:xfrm>
            <a:off x="1965960" y="2414016"/>
            <a:ext cx="1554480" cy="320040"/>
          </a:xfrm>
          <a:prstGeom prst="rect">
            <a:avLst/>
          </a:prstGeom>
          <a:noFill/>
          <a:ln/>
        </p:spPr>
        <p:txBody>
          <a:bodyPr wrap="square" lIns="0" tIns="0" rIns="0" bIns="0" rtlCol="0" anchor="ctr"/>
          <a:lstStyle/>
          <a:p>
            <a:pPr indent="0" marL="0">
              <a:buNone/>
            </a:pPr>
            <a:r>
              <a:rPr lang="en-US" sz="1250" b="1" dirty="0">
                <a:solidFill>
                  <a:srgbClr val="171B1F"/>
                </a:solidFill>
                <a:latin typeface="Consolas" pitchFamily="34" charset="0"/>
                <a:ea typeface="Consolas" pitchFamily="34" charset="-122"/>
                <a:cs typeface="Consolas" pitchFamily="34" charset="-120"/>
              </a:rPr>
              <a:t>getUpdates</a:t>
            </a:r>
            <a:endParaRPr lang="en-US" sz="1250" dirty="0"/>
          </a:p>
        </p:txBody>
      </p:sp>
      <p:sp>
        <p:nvSpPr>
          <p:cNvPr id="14" name="Text 12"/>
          <p:cNvSpPr/>
          <p:nvPr/>
        </p:nvSpPr>
        <p:spPr>
          <a:xfrm>
            <a:off x="3822192" y="2414016"/>
            <a:ext cx="2971800" cy="320040"/>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Webhook active</a:t>
            </a:r>
            <a:endParaRPr lang="en-US" sz="1300" dirty="0"/>
          </a:p>
        </p:txBody>
      </p:sp>
      <p:sp>
        <p:nvSpPr>
          <p:cNvPr id="15" name="Text 13"/>
          <p:cNvSpPr/>
          <p:nvPr/>
        </p:nvSpPr>
        <p:spPr>
          <a:xfrm>
            <a:off x="7360920" y="2414016"/>
            <a:ext cx="3584448" cy="320040"/>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Deactivate or deleteWebhook</a:t>
            </a:r>
            <a:endParaRPr lang="en-US" sz="1300" dirty="0"/>
          </a:p>
        </p:txBody>
      </p:sp>
      <p:sp>
        <p:nvSpPr>
          <p:cNvPr id="16" name="Shape 14"/>
          <p:cNvSpPr/>
          <p:nvPr/>
        </p:nvSpPr>
        <p:spPr>
          <a:xfrm>
            <a:off x="713232" y="3017520"/>
            <a:ext cx="10652760" cy="548640"/>
          </a:xfrm>
          <a:prstGeom prst="rect">
            <a:avLst/>
          </a:prstGeom>
          <a:solidFill>
            <a:srgbClr val="FFFFFF"/>
          </a:solidFill>
          <a:ln w="12700">
            <a:solidFill>
              <a:srgbClr val="FFFFFF"/>
            </a:solidFill>
            <a:prstDash val="solid"/>
          </a:ln>
        </p:spPr>
      </p:sp>
      <p:sp>
        <p:nvSpPr>
          <p:cNvPr id="17" name="Shape 15"/>
          <p:cNvSpPr/>
          <p:nvPr/>
        </p:nvSpPr>
        <p:spPr>
          <a:xfrm>
            <a:off x="877824" y="3136392"/>
            <a:ext cx="758952" cy="310896"/>
          </a:xfrm>
          <a:prstGeom prst="roundRect">
            <a:avLst/>
          </a:prstGeom>
          <a:solidFill>
            <a:srgbClr val="FF6B57"/>
          </a:solidFill>
          <a:ln w="12700">
            <a:solidFill>
              <a:srgbClr val="FF6B57"/>
            </a:solidFill>
            <a:prstDash val="solid"/>
          </a:ln>
        </p:spPr>
      </p:sp>
      <p:sp>
        <p:nvSpPr>
          <p:cNvPr id="18" name="Text 16"/>
          <p:cNvSpPr/>
          <p:nvPr/>
        </p:nvSpPr>
        <p:spPr>
          <a:xfrm>
            <a:off x="950976" y="3145536"/>
            <a:ext cx="61264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401</a:t>
            </a:r>
            <a:endParaRPr lang="en-US" sz="1050" dirty="0"/>
          </a:p>
        </p:txBody>
      </p:sp>
      <p:sp>
        <p:nvSpPr>
          <p:cNvPr id="19" name="Text 17"/>
          <p:cNvSpPr/>
          <p:nvPr/>
        </p:nvSpPr>
        <p:spPr>
          <a:xfrm>
            <a:off x="1965960" y="3108960"/>
            <a:ext cx="1554480" cy="320040"/>
          </a:xfrm>
          <a:prstGeom prst="rect">
            <a:avLst/>
          </a:prstGeom>
          <a:noFill/>
          <a:ln/>
        </p:spPr>
        <p:txBody>
          <a:bodyPr wrap="square" lIns="0" tIns="0" rIns="0" bIns="0" rtlCol="0" anchor="ctr"/>
          <a:lstStyle/>
          <a:p>
            <a:pPr indent="0" marL="0">
              <a:buNone/>
            </a:pPr>
            <a:r>
              <a:rPr lang="en-US" sz="1250" b="1" dirty="0">
                <a:solidFill>
                  <a:srgbClr val="171B1F"/>
                </a:solidFill>
                <a:latin typeface="Consolas" pitchFamily="34" charset="0"/>
                <a:ea typeface="Consolas" pitchFamily="34" charset="-122"/>
                <a:cs typeface="Consolas" pitchFamily="34" charset="-120"/>
              </a:rPr>
              <a:t>Telegram</a:t>
            </a:r>
            <a:endParaRPr lang="en-US" sz="1250" dirty="0"/>
          </a:p>
        </p:txBody>
      </p:sp>
      <p:sp>
        <p:nvSpPr>
          <p:cNvPr id="20" name="Text 18"/>
          <p:cNvSpPr/>
          <p:nvPr/>
        </p:nvSpPr>
        <p:spPr>
          <a:xfrm>
            <a:off x="3822192" y="3108960"/>
            <a:ext cx="2971800" cy="320040"/>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Token wrong / revoked</a:t>
            </a:r>
            <a:endParaRPr lang="en-US" sz="1300" dirty="0"/>
          </a:p>
        </p:txBody>
      </p:sp>
      <p:sp>
        <p:nvSpPr>
          <p:cNvPr id="21" name="Text 19"/>
          <p:cNvSpPr/>
          <p:nvPr/>
        </p:nvSpPr>
        <p:spPr>
          <a:xfrm>
            <a:off x="7360920" y="3108960"/>
            <a:ext cx="3584448" cy="320040"/>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Copy the current BotFather token</a:t>
            </a:r>
            <a:endParaRPr lang="en-US" sz="1300" dirty="0"/>
          </a:p>
        </p:txBody>
      </p:sp>
      <p:sp>
        <p:nvSpPr>
          <p:cNvPr id="22" name="Shape 20"/>
          <p:cNvSpPr/>
          <p:nvPr/>
        </p:nvSpPr>
        <p:spPr>
          <a:xfrm>
            <a:off x="713232" y="3712464"/>
            <a:ext cx="10652760" cy="548640"/>
          </a:xfrm>
          <a:prstGeom prst="rect">
            <a:avLst/>
          </a:prstGeom>
          <a:solidFill>
            <a:srgbClr val="ECE9E2"/>
          </a:solidFill>
          <a:ln w="12700">
            <a:solidFill>
              <a:srgbClr val="ECE9E2"/>
            </a:solidFill>
            <a:prstDash val="solid"/>
          </a:ln>
        </p:spPr>
      </p:sp>
      <p:sp>
        <p:nvSpPr>
          <p:cNvPr id="23" name="Shape 21"/>
          <p:cNvSpPr/>
          <p:nvPr/>
        </p:nvSpPr>
        <p:spPr>
          <a:xfrm>
            <a:off x="877824" y="3831336"/>
            <a:ext cx="758952" cy="310896"/>
          </a:xfrm>
          <a:prstGeom prst="roundRect">
            <a:avLst/>
          </a:prstGeom>
          <a:solidFill>
            <a:srgbClr val="FF6B57"/>
          </a:solidFill>
          <a:ln w="12700">
            <a:solidFill>
              <a:srgbClr val="FF6B57"/>
            </a:solidFill>
            <a:prstDash val="solid"/>
          </a:ln>
        </p:spPr>
      </p:sp>
      <p:sp>
        <p:nvSpPr>
          <p:cNvPr id="24" name="Text 22"/>
          <p:cNvSpPr/>
          <p:nvPr/>
        </p:nvSpPr>
        <p:spPr>
          <a:xfrm>
            <a:off x="950976" y="3840480"/>
            <a:ext cx="61264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404</a:t>
            </a:r>
            <a:endParaRPr lang="en-US" sz="1050" dirty="0"/>
          </a:p>
        </p:txBody>
      </p:sp>
      <p:sp>
        <p:nvSpPr>
          <p:cNvPr id="25" name="Text 23"/>
          <p:cNvSpPr/>
          <p:nvPr/>
        </p:nvSpPr>
        <p:spPr>
          <a:xfrm>
            <a:off x="1965960" y="3803904"/>
            <a:ext cx="1554480" cy="320040"/>
          </a:xfrm>
          <a:prstGeom prst="rect">
            <a:avLst/>
          </a:prstGeom>
          <a:noFill/>
          <a:ln/>
        </p:spPr>
        <p:txBody>
          <a:bodyPr wrap="square" lIns="0" tIns="0" rIns="0" bIns="0" rtlCol="0" anchor="ctr"/>
          <a:lstStyle/>
          <a:p>
            <a:pPr indent="0" marL="0">
              <a:buNone/>
            </a:pPr>
            <a:r>
              <a:rPr lang="en-US" sz="1250" b="1" dirty="0">
                <a:solidFill>
                  <a:srgbClr val="171B1F"/>
                </a:solidFill>
                <a:latin typeface="Consolas" pitchFamily="34" charset="0"/>
                <a:ea typeface="Consolas" pitchFamily="34" charset="-122"/>
                <a:cs typeface="Consolas" pitchFamily="34" charset="-120"/>
              </a:rPr>
              <a:t>sendVoice</a:t>
            </a:r>
            <a:endParaRPr lang="en-US" sz="1250" dirty="0"/>
          </a:p>
        </p:txBody>
      </p:sp>
      <p:sp>
        <p:nvSpPr>
          <p:cNvPr id="26" name="Text 24"/>
          <p:cNvSpPr/>
          <p:nvPr/>
        </p:nvSpPr>
        <p:spPr>
          <a:xfrm>
            <a:off x="3822192" y="3803904"/>
            <a:ext cx="2971800" cy="320040"/>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Empty token made /bot/sendVoice</a:t>
            </a:r>
            <a:endParaRPr lang="en-US" sz="1300" dirty="0"/>
          </a:p>
        </p:txBody>
      </p:sp>
      <p:sp>
        <p:nvSpPr>
          <p:cNvPr id="27" name="Text 25"/>
          <p:cNvSpPr/>
          <p:nvPr/>
        </p:nvSpPr>
        <p:spPr>
          <a:xfrm>
            <a:off x="7360920" y="3803904"/>
            <a:ext cx="3584448" cy="320040"/>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Run setup script with --status</a:t>
            </a:r>
            <a:endParaRPr lang="en-US" sz="1300" dirty="0"/>
          </a:p>
        </p:txBody>
      </p:sp>
      <p:sp>
        <p:nvSpPr>
          <p:cNvPr id="28" name="Shape 26"/>
          <p:cNvSpPr/>
          <p:nvPr/>
        </p:nvSpPr>
        <p:spPr>
          <a:xfrm>
            <a:off x="713232" y="4407408"/>
            <a:ext cx="10652760" cy="548640"/>
          </a:xfrm>
          <a:prstGeom prst="rect">
            <a:avLst/>
          </a:prstGeom>
          <a:solidFill>
            <a:srgbClr val="FFFFFF"/>
          </a:solidFill>
          <a:ln w="12700">
            <a:solidFill>
              <a:srgbClr val="FFFFFF"/>
            </a:solidFill>
            <a:prstDash val="solid"/>
          </a:ln>
        </p:spPr>
      </p:sp>
      <p:sp>
        <p:nvSpPr>
          <p:cNvPr id="29" name="Shape 27"/>
          <p:cNvSpPr/>
          <p:nvPr/>
        </p:nvSpPr>
        <p:spPr>
          <a:xfrm>
            <a:off x="877824" y="4526280"/>
            <a:ext cx="758952" cy="310896"/>
          </a:xfrm>
          <a:prstGeom prst="roundRect">
            <a:avLst/>
          </a:prstGeom>
          <a:solidFill>
            <a:srgbClr val="229ED9"/>
          </a:solidFill>
          <a:ln w="12700">
            <a:solidFill>
              <a:srgbClr val="229ED9"/>
            </a:solidFill>
            <a:prstDash val="solid"/>
          </a:ln>
        </p:spPr>
      </p:sp>
      <p:sp>
        <p:nvSpPr>
          <p:cNvPr id="30" name="Text 28"/>
          <p:cNvSpPr/>
          <p:nvPr/>
        </p:nvSpPr>
        <p:spPr>
          <a:xfrm>
            <a:off x="950976" y="4535424"/>
            <a:ext cx="61264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404</a:t>
            </a:r>
            <a:endParaRPr lang="en-US" sz="1050" dirty="0"/>
          </a:p>
        </p:txBody>
      </p:sp>
      <p:sp>
        <p:nvSpPr>
          <p:cNvPr id="31" name="Text 29"/>
          <p:cNvSpPr/>
          <p:nvPr/>
        </p:nvSpPr>
        <p:spPr>
          <a:xfrm>
            <a:off x="1965960" y="4498848"/>
            <a:ext cx="1554480" cy="320040"/>
          </a:xfrm>
          <a:prstGeom prst="rect">
            <a:avLst/>
          </a:prstGeom>
          <a:noFill/>
          <a:ln/>
        </p:spPr>
        <p:txBody>
          <a:bodyPr wrap="square" lIns="0" tIns="0" rIns="0" bIns="0" rtlCol="0" anchor="ctr"/>
          <a:lstStyle/>
          <a:p>
            <a:pPr indent="0" marL="0">
              <a:buNone/>
            </a:pPr>
            <a:r>
              <a:rPr lang="en-US" sz="1250" b="1" dirty="0">
                <a:solidFill>
                  <a:srgbClr val="171B1F"/>
                </a:solidFill>
                <a:latin typeface="Consolas" pitchFamily="34" charset="0"/>
                <a:ea typeface="Consolas" pitchFamily="34" charset="-122"/>
                <a:cs typeface="Consolas" pitchFamily="34" charset="-120"/>
              </a:rPr>
              <a:t>OpenRouter</a:t>
            </a:r>
            <a:endParaRPr lang="en-US" sz="1250" dirty="0"/>
          </a:p>
        </p:txBody>
      </p:sp>
      <p:sp>
        <p:nvSpPr>
          <p:cNvPr id="32" name="Text 30"/>
          <p:cNvSpPr/>
          <p:nvPr/>
        </p:nvSpPr>
        <p:spPr>
          <a:xfrm>
            <a:off x="3822192" y="4498848"/>
            <a:ext cx="2971800" cy="320040"/>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Model slug moved</a:t>
            </a:r>
            <a:endParaRPr lang="en-US" sz="1300" dirty="0"/>
          </a:p>
        </p:txBody>
      </p:sp>
      <p:sp>
        <p:nvSpPr>
          <p:cNvPr id="33" name="Text 31"/>
          <p:cNvSpPr/>
          <p:nvPr/>
        </p:nvSpPr>
        <p:spPr>
          <a:xfrm>
            <a:off x="7360920" y="4498848"/>
            <a:ext cx="3584448" cy="320040"/>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Check live models API</a:t>
            </a:r>
            <a:endParaRPr lang="en-US" sz="1300" dirty="0"/>
          </a:p>
        </p:txBody>
      </p:sp>
      <p:sp>
        <p:nvSpPr>
          <p:cNvPr id="34" name="Shape 32"/>
          <p:cNvSpPr/>
          <p:nvPr/>
        </p:nvSpPr>
        <p:spPr>
          <a:xfrm>
            <a:off x="713232" y="5102352"/>
            <a:ext cx="10652760" cy="548640"/>
          </a:xfrm>
          <a:prstGeom prst="rect">
            <a:avLst/>
          </a:prstGeom>
          <a:solidFill>
            <a:srgbClr val="ECE9E2"/>
          </a:solidFill>
          <a:ln w="12700">
            <a:solidFill>
              <a:srgbClr val="ECE9E2"/>
            </a:solidFill>
            <a:prstDash val="solid"/>
          </a:ln>
        </p:spPr>
      </p:sp>
      <p:sp>
        <p:nvSpPr>
          <p:cNvPr id="35" name="Shape 33"/>
          <p:cNvSpPr/>
          <p:nvPr/>
        </p:nvSpPr>
        <p:spPr>
          <a:xfrm>
            <a:off x="877824" y="5221224"/>
            <a:ext cx="758952" cy="310896"/>
          </a:xfrm>
          <a:prstGeom prst="roundRect">
            <a:avLst/>
          </a:prstGeom>
          <a:solidFill>
            <a:srgbClr val="229ED9"/>
          </a:solidFill>
          <a:ln w="12700">
            <a:solidFill>
              <a:srgbClr val="229ED9"/>
            </a:solidFill>
            <a:prstDash val="solid"/>
          </a:ln>
        </p:spPr>
      </p:sp>
      <p:sp>
        <p:nvSpPr>
          <p:cNvPr id="36" name="Text 34"/>
          <p:cNvSpPr/>
          <p:nvPr/>
        </p:nvSpPr>
        <p:spPr>
          <a:xfrm>
            <a:off x="950976" y="5230368"/>
            <a:ext cx="612648" cy="274320"/>
          </a:xfrm>
          <a:prstGeom prst="rect">
            <a:avLst/>
          </a:prstGeom>
          <a:noFill/>
          <a:ln/>
        </p:spPr>
        <p:txBody>
          <a:bodyPr wrap="square" lIns="0" tIns="0" rIns="0" bIns="0" rtlCol="0" anchor="ctr"/>
          <a:lstStyle/>
          <a:p>
            <a:pPr algn="ctr" indent="0" marL="0">
              <a:buNone/>
            </a:pPr>
            <a:r>
              <a:rPr lang="en-US" sz="1050" b="1" dirty="0">
                <a:solidFill>
                  <a:srgbClr val="171B1F"/>
                </a:solidFill>
                <a:latin typeface="Aptos" pitchFamily="34" charset="0"/>
                <a:ea typeface="Aptos" pitchFamily="34" charset="-122"/>
                <a:cs typeface="Aptos" pitchFamily="34" charset="-120"/>
              </a:rPr>
              <a:t>0 frames</a:t>
            </a:r>
            <a:endParaRPr lang="en-US" sz="1050" dirty="0"/>
          </a:p>
        </p:txBody>
      </p:sp>
      <p:sp>
        <p:nvSpPr>
          <p:cNvPr id="37" name="Text 35"/>
          <p:cNvSpPr/>
          <p:nvPr/>
        </p:nvSpPr>
        <p:spPr>
          <a:xfrm>
            <a:off x="1965960" y="5193792"/>
            <a:ext cx="1554480" cy="320040"/>
          </a:xfrm>
          <a:prstGeom prst="rect">
            <a:avLst/>
          </a:prstGeom>
          <a:noFill/>
          <a:ln/>
        </p:spPr>
        <p:txBody>
          <a:bodyPr wrap="square" lIns="0" tIns="0" rIns="0" bIns="0" rtlCol="0" anchor="ctr"/>
          <a:lstStyle/>
          <a:p>
            <a:pPr indent="0" marL="0">
              <a:buNone/>
            </a:pPr>
            <a:r>
              <a:rPr lang="en-US" sz="1250" b="1" dirty="0">
                <a:solidFill>
                  <a:srgbClr val="171B1F"/>
                </a:solidFill>
                <a:latin typeface="Consolas" pitchFamily="34" charset="0"/>
                <a:ea typeface="Consolas" pitchFamily="34" charset="-122"/>
                <a:cs typeface="Consolas" pitchFamily="34" charset="-120"/>
              </a:rPr>
              <a:t>Speech SSE</a:t>
            </a:r>
            <a:endParaRPr lang="en-US" sz="1250" dirty="0"/>
          </a:p>
        </p:txBody>
      </p:sp>
      <p:sp>
        <p:nvSpPr>
          <p:cNvPr id="38" name="Text 36"/>
          <p:cNvSpPr/>
          <p:nvPr/>
        </p:nvSpPr>
        <p:spPr>
          <a:xfrm>
            <a:off x="3822192" y="5193792"/>
            <a:ext cx="2971800" cy="320040"/>
          </a:xfrm>
          <a:prstGeom prst="rect">
            <a:avLst/>
          </a:prstGeom>
          <a:noFill/>
          <a:ln/>
        </p:spPr>
        <p:txBody>
          <a:bodyPr wrap="square" lIns="0" tIns="0" rIns="0" bIns="0" rtlCol="0" anchor="ctr"/>
          <a:lstStyle/>
          <a:p>
            <a:pPr indent="0" marL="0">
              <a:buNone/>
            </a:pPr>
            <a:r>
              <a:rPr lang="en-US" sz="1300" dirty="0">
                <a:solidFill>
                  <a:srgbClr val="171B1F"/>
                </a:solidFill>
                <a:latin typeface="Aptos" pitchFamily="34" charset="0"/>
                <a:ea typeface="Aptos" pitchFamily="34" charset="-122"/>
                <a:cs typeface="Aptos" pitchFamily="34" charset="-120"/>
              </a:rPr>
              <a:t>Wrong response shape</a:t>
            </a:r>
            <a:endParaRPr lang="en-US" sz="1300" dirty="0"/>
          </a:p>
        </p:txBody>
      </p:sp>
      <p:sp>
        <p:nvSpPr>
          <p:cNvPr id="39" name="Text 37"/>
          <p:cNvSpPr/>
          <p:nvPr/>
        </p:nvSpPr>
        <p:spPr>
          <a:xfrm>
            <a:off x="7360920" y="5193792"/>
            <a:ext cx="3584448" cy="320040"/>
          </a:xfrm>
          <a:prstGeom prst="rect">
            <a:avLst/>
          </a:prstGeom>
          <a:noFill/>
          <a:ln/>
        </p:spPr>
        <p:txBody>
          <a:bodyPr wrap="square" lIns="0" tIns="0" rIns="0" bIns="0" rtlCol="0" anchor="ctr"/>
          <a:lstStyle/>
          <a:p>
            <a:pPr indent="0" marL="0">
              <a:buNone/>
            </a:pPr>
            <a:r>
              <a:rPr lang="en-US" sz="1300" b="1" dirty="0">
                <a:solidFill>
                  <a:srgbClr val="171B1F"/>
                </a:solidFill>
                <a:latin typeface="Aptos" pitchFamily="34" charset="0"/>
                <a:ea typeface="Aptos" pitchFamily="34" charset="-122"/>
                <a:cs typeface="Aptos" pitchFamily="34" charset="-120"/>
              </a:rPr>
              <a:t>Inspect data: lines</a:t>
            </a:r>
            <a:endParaRPr lang="en-US" sz="1300" dirty="0"/>
          </a:p>
        </p:txBody>
      </p:sp>
      <p:sp>
        <p:nvSpPr>
          <p:cNvPr id="25" name="Slide Number Placeholder 0"/>
          <p:cNvSpPr>
            <a:spLocks noGrp="1"/>
          </p:cNvSpPr>
          <p:nvPr>
            <p:ph type="sldNum" sz="quarter" idx="4294967295"/>
          </p:nvPr>
        </p:nvSpPr>
        <p:spPr>
          <a:xfrm>
            <a:off x="11686032" y="6437376"/>
            <a:ext cx="201168"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77736C"/>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B1F"/>
        </a:solidFill>
      </p:bgPr>
    </p:bg>
    <p:spTree>
      <p:nvGrpSpPr>
        <p:cNvPr id="1" name=""/>
        <p:cNvGrpSpPr/>
        <p:nvPr/>
      </p:nvGrpSpPr>
      <p:grpSpPr>
        <a:xfrm>
          <a:off x="0" y="0"/>
          <a:ext cx="0" cy="0"/>
          <a:chOff x="0" y="0"/>
          <a:chExt cx="0" cy="0"/>
        </a:xfrm>
      </p:grpSpPr>
      <p:sp>
        <p:nvSpPr>
          <p:cNvPr id="2" name="Text 0"/>
          <p:cNvSpPr/>
          <p:nvPr/>
        </p:nvSpPr>
        <p:spPr>
          <a:xfrm>
            <a:off x="713232" y="658368"/>
            <a:ext cx="2834640" cy="292608"/>
          </a:xfrm>
          <a:prstGeom prst="rect">
            <a:avLst/>
          </a:prstGeom>
          <a:noFill/>
          <a:ln/>
        </p:spPr>
        <p:txBody>
          <a:bodyPr wrap="square" lIns="0" tIns="0" rIns="0" bIns="0" rtlCol="0" anchor="ctr"/>
          <a:lstStyle/>
          <a:p>
            <a:pPr indent="0" marL="0">
              <a:buNone/>
            </a:pPr>
            <a:r>
              <a:rPr lang="en-US" sz="1100" b="1" spc="160" kern="0" dirty="0">
                <a:solidFill>
                  <a:srgbClr val="DDF3FC"/>
                </a:solidFill>
                <a:latin typeface="Aptos" pitchFamily="34" charset="0"/>
                <a:ea typeface="Aptos" pitchFamily="34" charset="-122"/>
                <a:cs typeface="Aptos" pitchFamily="34" charset="-120"/>
              </a:rPr>
              <a:t>THE FINISH LINE</a:t>
            </a:r>
            <a:endParaRPr lang="en-US" sz="1100" dirty="0"/>
          </a:p>
        </p:txBody>
      </p:sp>
      <p:sp>
        <p:nvSpPr>
          <p:cNvPr id="3" name="Text 1"/>
          <p:cNvSpPr/>
          <p:nvPr/>
        </p:nvSpPr>
        <p:spPr>
          <a:xfrm>
            <a:off x="713232" y="1353312"/>
            <a:ext cx="7178040" cy="1298448"/>
          </a:xfrm>
          <a:prstGeom prst="rect">
            <a:avLst/>
          </a:prstGeom>
          <a:noFill/>
          <a:ln/>
        </p:spPr>
        <p:txBody>
          <a:bodyPr wrap="square" lIns="0" tIns="0" rIns="0" bIns="0" rtlCol="0" anchor="t"/>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Speak one real question.</a:t>
            </a:r>
            <a:endParaRPr lang="en-US" sz="3500" dirty="0"/>
          </a:p>
          <a:p>
            <a:pPr indent="0" marL="0">
              <a:buNone/>
            </a:pPr>
            <a:r>
              <a:rPr lang="en-US" sz="3500" b="1" dirty="0">
                <a:solidFill>
                  <a:srgbClr val="FFFFFF"/>
                </a:solidFill>
                <a:latin typeface="Aptos Display" pitchFamily="34" charset="0"/>
                <a:ea typeface="Aptos Display" pitchFamily="34" charset="-122"/>
                <a:cs typeface="Aptos Display" pitchFamily="34" charset="-120"/>
              </a:rPr>
              <a:t>Hear one grounded answer.</a:t>
            </a:r>
            <a:endParaRPr lang="en-US" sz="3500" dirty="0"/>
          </a:p>
        </p:txBody>
      </p:sp>
      <p:sp>
        <p:nvSpPr>
          <p:cNvPr id="4" name="Shape 2"/>
          <p:cNvSpPr/>
          <p:nvPr/>
        </p:nvSpPr>
        <p:spPr>
          <a:xfrm>
            <a:off x="768096" y="3182112"/>
            <a:ext cx="292608" cy="292608"/>
          </a:xfrm>
          <a:prstGeom prst="ellipse">
            <a:avLst/>
          </a:prstGeom>
          <a:solidFill>
            <a:srgbClr val="2EA76F"/>
          </a:solidFill>
          <a:ln w="12700">
            <a:solidFill>
              <a:srgbClr val="2EA76F"/>
            </a:solidFill>
            <a:prstDash val="solid"/>
          </a:ln>
        </p:spPr>
      </p:sp>
      <p:sp>
        <p:nvSpPr>
          <p:cNvPr id="5" name="Text 3"/>
          <p:cNvSpPr/>
          <p:nvPr/>
        </p:nvSpPr>
        <p:spPr>
          <a:xfrm>
            <a:off x="768096" y="3218688"/>
            <a:ext cx="29260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OK</a:t>
            </a:r>
            <a:endParaRPr lang="en-US" sz="750" dirty="0"/>
          </a:p>
        </p:txBody>
      </p:sp>
      <p:sp>
        <p:nvSpPr>
          <p:cNvPr id="6" name="Text 4"/>
          <p:cNvSpPr/>
          <p:nvPr/>
        </p:nvSpPr>
        <p:spPr>
          <a:xfrm>
            <a:off x="1243584" y="3163824"/>
            <a:ext cx="3840480" cy="310896"/>
          </a:xfrm>
          <a:prstGeom prst="rect">
            <a:avLst/>
          </a:prstGeom>
          <a:noFill/>
          <a:ln/>
        </p:spPr>
        <p:txBody>
          <a:bodyPr wrap="square" lIns="0" tIns="0" rIns="0" bIns="0" rtlCol="0" anchor="ctr"/>
          <a:lstStyle/>
          <a:p>
            <a:pPr indent="0" marL="0">
              <a:buNone/>
            </a:pPr>
            <a:r>
              <a:rPr lang="en-US" sz="1500" dirty="0">
                <a:solidFill>
                  <a:srgbClr val="DAE0E3"/>
                </a:solidFill>
                <a:latin typeface="Aptos" pitchFamily="34" charset="0"/>
                <a:ea typeface="Aptos" pitchFamily="34" charset="-122"/>
                <a:cs typeface="Aptos" pitchFamily="34" charset="-120"/>
              </a:rPr>
              <a:t>Public HTTPS webhook</a:t>
            </a:r>
            <a:endParaRPr lang="en-US" sz="1500" dirty="0"/>
          </a:p>
        </p:txBody>
      </p:sp>
      <p:sp>
        <p:nvSpPr>
          <p:cNvPr id="7" name="Shape 5"/>
          <p:cNvSpPr/>
          <p:nvPr/>
        </p:nvSpPr>
        <p:spPr>
          <a:xfrm>
            <a:off x="768096" y="3749040"/>
            <a:ext cx="292608" cy="292608"/>
          </a:xfrm>
          <a:prstGeom prst="ellipse">
            <a:avLst/>
          </a:prstGeom>
          <a:solidFill>
            <a:srgbClr val="2EA76F"/>
          </a:solidFill>
          <a:ln w="12700">
            <a:solidFill>
              <a:srgbClr val="2EA76F"/>
            </a:solidFill>
            <a:prstDash val="solid"/>
          </a:ln>
        </p:spPr>
      </p:sp>
      <p:sp>
        <p:nvSpPr>
          <p:cNvPr id="8" name="Text 6"/>
          <p:cNvSpPr/>
          <p:nvPr/>
        </p:nvSpPr>
        <p:spPr>
          <a:xfrm>
            <a:off x="768096" y="3785616"/>
            <a:ext cx="29260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OK</a:t>
            </a:r>
            <a:endParaRPr lang="en-US" sz="750" dirty="0"/>
          </a:p>
        </p:txBody>
      </p:sp>
      <p:sp>
        <p:nvSpPr>
          <p:cNvPr id="9" name="Text 7"/>
          <p:cNvSpPr/>
          <p:nvPr/>
        </p:nvSpPr>
        <p:spPr>
          <a:xfrm>
            <a:off x="1243584" y="3730752"/>
            <a:ext cx="3840480" cy="310896"/>
          </a:xfrm>
          <a:prstGeom prst="rect">
            <a:avLst/>
          </a:prstGeom>
          <a:noFill/>
          <a:ln/>
        </p:spPr>
        <p:txBody>
          <a:bodyPr wrap="square" lIns="0" tIns="0" rIns="0" bIns="0" rtlCol="0" anchor="ctr"/>
          <a:lstStyle/>
          <a:p>
            <a:pPr indent="0" marL="0">
              <a:buNone/>
            </a:pPr>
            <a:r>
              <a:rPr lang="en-US" sz="1500" dirty="0">
                <a:solidFill>
                  <a:srgbClr val="DAE0E3"/>
                </a:solidFill>
                <a:latin typeface="Aptos" pitchFamily="34" charset="0"/>
                <a:ea typeface="Aptos" pitchFamily="34" charset="-122"/>
                <a:cs typeface="Aptos" pitchFamily="34" charset="-120"/>
              </a:rPr>
              <a:t>Owner guard proven</a:t>
            </a:r>
            <a:endParaRPr lang="en-US" sz="1500" dirty="0"/>
          </a:p>
        </p:txBody>
      </p:sp>
      <p:sp>
        <p:nvSpPr>
          <p:cNvPr id="10" name="Shape 8"/>
          <p:cNvSpPr/>
          <p:nvPr/>
        </p:nvSpPr>
        <p:spPr>
          <a:xfrm>
            <a:off x="768096" y="4315968"/>
            <a:ext cx="292608" cy="292608"/>
          </a:xfrm>
          <a:prstGeom prst="ellipse">
            <a:avLst/>
          </a:prstGeom>
          <a:solidFill>
            <a:srgbClr val="2EA76F"/>
          </a:solidFill>
          <a:ln w="12700">
            <a:solidFill>
              <a:srgbClr val="2EA76F"/>
            </a:solidFill>
            <a:prstDash val="solid"/>
          </a:ln>
        </p:spPr>
      </p:sp>
      <p:sp>
        <p:nvSpPr>
          <p:cNvPr id="11" name="Text 9"/>
          <p:cNvSpPr/>
          <p:nvPr/>
        </p:nvSpPr>
        <p:spPr>
          <a:xfrm>
            <a:off x="768096" y="4352544"/>
            <a:ext cx="29260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OK</a:t>
            </a:r>
            <a:endParaRPr lang="en-US" sz="750" dirty="0"/>
          </a:p>
        </p:txBody>
      </p:sp>
      <p:sp>
        <p:nvSpPr>
          <p:cNvPr id="12" name="Text 10"/>
          <p:cNvSpPr/>
          <p:nvPr/>
        </p:nvSpPr>
        <p:spPr>
          <a:xfrm>
            <a:off x="1243584" y="4297680"/>
            <a:ext cx="3840480" cy="310896"/>
          </a:xfrm>
          <a:prstGeom prst="rect">
            <a:avLst/>
          </a:prstGeom>
          <a:noFill/>
          <a:ln/>
        </p:spPr>
        <p:txBody>
          <a:bodyPr wrap="square" lIns="0" tIns="0" rIns="0" bIns="0" rtlCol="0" anchor="ctr"/>
          <a:lstStyle/>
          <a:p>
            <a:pPr indent="0" marL="0">
              <a:buNone/>
            </a:pPr>
            <a:r>
              <a:rPr lang="en-US" sz="1500" dirty="0">
                <a:solidFill>
                  <a:srgbClr val="DAE0E3"/>
                </a:solidFill>
                <a:latin typeface="Aptos" pitchFamily="34" charset="0"/>
                <a:ea typeface="Aptos" pitchFamily="34" charset="-122"/>
                <a:cs typeface="Aptos" pitchFamily="34" charset="-120"/>
              </a:rPr>
              <a:t>Secrets stayed private</a:t>
            </a:r>
            <a:endParaRPr lang="en-US" sz="1500" dirty="0"/>
          </a:p>
        </p:txBody>
      </p:sp>
      <p:sp>
        <p:nvSpPr>
          <p:cNvPr id="13" name="Shape 11"/>
          <p:cNvSpPr/>
          <p:nvPr/>
        </p:nvSpPr>
        <p:spPr>
          <a:xfrm>
            <a:off x="768096" y="4882896"/>
            <a:ext cx="292608" cy="292608"/>
          </a:xfrm>
          <a:prstGeom prst="ellipse">
            <a:avLst/>
          </a:prstGeom>
          <a:solidFill>
            <a:srgbClr val="2EA76F"/>
          </a:solidFill>
          <a:ln w="12700">
            <a:solidFill>
              <a:srgbClr val="2EA76F"/>
            </a:solidFill>
            <a:prstDash val="solid"/>
          </a:ln>
        </p:spPr>
      </p:sp>
      <p:sp>
        <p:nvSpPr>
          <p:cNvPr id="14" name="Text 12"/>
          <p:cNvSpPr/>
          <p:nvPr/>
        </p:nvSpPr>
        <p:spPr>
          <a:xfrm>
            <a:off x="768096" y="4919472"/>
            <a:ext cx="29260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ptos" pitchFamily="34" charset="0"/>
                <a:ea typeface="Aptos" pitchFamily="34" charset="-122"/>
                <a:cs typeface="Aptos" pitchFamily="34" charset="-120"/>
              </a:rPr>
              <a:t>OK</a:t>
            </a:r>
            <a:endParaRPr lang="en-US" sz="750" dirty="0"/>
          </a:p>
        </p:txBody>
      </p:sp>
      <p:sp>
        <p:nvSpPr>
          <p:cNvPr id="15" name="Text 13"/>
          <p:cNvSpPr/>
          <p:nvPr/>
        </p:nvSpPr>
        <p:spPr>
          <a:xfrm>
            <a:off x="1243584" y="4864608"/>
            <a:ext cx="3840480" cy="310896"/>
          </a:xfrm>
          <a:prstGeom prst="rect">
            <a:avLst/>
          </a:prstGeom>
          <a:noFill/>
          <a:ln/>
        </p:spPr>
        <p:txBody>
          <a:bodyPr wrap="square" lIns="0" tIns="0" rIns="0" bIns="0" rtlCol="0" anchor="ctr"/>
          <a:lstStyle/>
          <a:p>
            <a:pPr indent="0" marL="0">
              <a:buNone/>
            </a:pPr>
            <a:r>
              <a:rPr lang="en-US" sz="1500" dirty="0">
                <a:solidFill>
                  <a:srgbClr val="DAE0E3"/>
                </a:solidFill>
                <a:latin typeface="Aptos" pitchFamily="34" charset="0"/>
                <a:ea typeface="Aptos" pitchFamily="34" charset="-122"/>
                <a:cs typeface="Aptos" pitchFamily="34" charset="-120"/>
              </a:rPr>
              <a:t>Voice note plays</a:t>
            </a:r>
            <a:endParaRPr lang="en-US" sz="1500" dirty="0"/>
          </a:p>
        </p:txBody>
      </p:sp>
      <p:sp>
        <p:nvSpPr>
          <p:cNvPr id="16" name="Shape 14"/>
          <p:cNvSpPr/>
          <p:nvPr/>
        </p:nvSpPr>
        <p:spPr>
          <a:xfrm>
            <a:off x="8247888" y="0"/>
            <a:ext cx="3943807" cy="6858000"/>
          </a:xfrm>
          <a:prstGeom prst="rect">
            <a:avLst/>
          </a:prstGeom>
          <a:solidFill>
            <a:srgbClr val="229ED9"/>
          </a:solidFill>
          <a:ln w="12700">
            <a:solidFill>
              <a:srgbClr val="229ED9"/>
            </a:solidFill>
            <a:prstDash val="solid"/>
          </a:ln>
        </p:spPr>
      </p:sp>
      <p:sp>
        <p:nvSpPr>
          <p:cNvPr id="17" name="Text 15"/>
          <p:cNvSpPr/>
          <p:nvPr/>
        </p:nvSpPr>
        <p:spPr>
          <a:xfrm>
            <a:off x="8732520" y="1920240"/>
            <a:ext cx="292608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SAFE TO</a:t>
            </a:r>
            <a:endParaRPr lang="en-US" sz="3400" dirty="0"/>
          </a:p>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SHARE</a:t>
            </a:r>
            <a:endParaRPr lang="en-US" sz="3400" dirty="0"/>
          </a:p>
        </p:txBody>
      </p:sp>
      <p:sp>
        <p:nvSpPr>
          <p:cNvPr id="18" name="Text 16"/>
          <p:cNvSpPr/>
          <p:nvPr/>
        </p:nvSpPr>
        <p:spPr>
          <a:xfrm>
            <a:off x="8796528" y="3328416"/>
            <a:ext cx="2788920" cy="731520"/>
          </a:xfrm>
          <a:prstGeom prst="rect">
            <a:avLst/>
          </a:prstGeom>
          <a:noFill/>
          <a:ln/>
        </p:spPr>
        <p:txBody>
          <a:bodyPr wrap="square" lIns="0" tIns="0" rIns="0" bIns="0" rtlCol="0" anchor="ctr"/>
          <a:lstStyle/>
          <a:p>
            <a:pPr algn="ctr" indent="0" marL="0">
              <a:buNone/>
            </a:pPr>
            <a:r>
              <a:rPr lang="en-US" sz="1700" dirty="0">
                <a:solidFill>
                  <a:srgbClr val="FFFFFF"/>
                </a:solidFill>
                <a:latin typeface="Aptos" pitchFamily="34" charset="0"/>
                <a:ea typeface="Aptos" pitchFamily="34" charset="-122"/>
                <a:cs typeface="Aptos" pitchFamily="34" charset="-120"/>
              </a:rPr>
              <a:t>Slides + notes +</a:t>
            </a:r>
            <a:endParaRPr lang="en-US" sz="1700" dirty="0"/>
          </a:p>
          <a:p>
            <a:pPr algn="ctr" indent="0" marL="0">
              <a:buNone/>
            </a:pPr>
            <a:r>
              <a:rPr lang="en-US" sz="1700" dirty="0">
                <a:solidFill>
                  <a:srgbClr val="FFFFFF"/>
                </a:solidFill>
                <a:latin typeface="Aptos" pitchFamily="34" charset="0"/>
                <a:ea typeface="Aptos" pitchFamily="34" charset="-122"/>
                <a:cs typeface="Aptos" pitchFamily="34" charset="-120"/>
              </a:rPr>
              <a:t>UNVERIFIED study workflow</a:t>
            </a:r>
            <a:endParaRPr lang="en-US" sz="1700" dirty="0"/>
          </a:p>
        </p:txBody>
      </p:sp>
      <p:sp>
        <p:nvSpPr>
          <p:cNvPr id="19" name="Shape 17"/>
          <p:cNvSpPr/>
          <p:nvPr/>
        </p:nvSpPr>
        <p:spPr>
          <a:xfrm>
            <a:off x="8906256" y="4882896"/>
            <a:ext cx="2578608" cy="310896"/>
          </a:xfrm>
          <a:prstGeom prst="roundRect">
            <a:avLst/>
          </a:prstGeom>
          <a:solidFill>
            <a:srgbClr val="171B1F"/>
          </a:solidFill>
          <a:ln w="12700">
            <a:solidFill>
              <a:srgbClr val="171B1F"/>
            </a:solidFill>
            <a:prstDash val="solid"/>
          </a:ln>
        </p:spPr>
      </p:sp>
      <p:sp>
        <p:nvSpPr>
          <p:cNvPr id="20" name="Text 18"/>
          <p:cNvSpPr/>
          <p:nvPr/>
        </p:nvSpPr>
        <p:spPr>
          <a:xfrm>
            <a:off x="8979408" y="4892040"/>
            <a:ext cx="243230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NO CREDENTIAL VALUES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Business Intelligence Brain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4 - Telegram integration</dc:title>
  <dc:subject>Class 4 Telegram integration</dc:subject>
  <dc:creator>Business Intelligence Brain</dc:creator>
  <cp:lastModifiedBy>Business Intelligence Brain</cp:lastModifiedBy>
  <cp:revision>1</cp:revision>
  <dcterms:created xsi:type="dcterms:W3CDTF">2026-09-01T19:56:15Z</dcterms:created>
  <dcterms:modified xsi:type="dcterms:W3CDTF">2026-09-01T19:56:15Z</dcterms:modified>
</cp:coreProperties>
</file>